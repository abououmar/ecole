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78" r:id="rId7"/>
    <p:sldId id="262" r:id="rId8"/>
    <p:sldId id="263" r:id="rId9"/>
    <p:sldId id="264" r:id="rId10"/>
    <p:sldId id="265" r:id="rId11"/>
    <p:sldId id="266" r:id="rId12"/>
    <p:sldId id="276" r:id="rId13"/>
    <p:sldId id="273" r:id="rId14"/>
    <p:sldId id="267" r:id="rId15"/>
    <p:sldId id="277" r:id="rId16"/>
    <p:sldId id="268" r:id="rId17"/>
    <p:sldId id="269" r:id="rId18"/>
    <p:sldId id="270" r:id="rId19"/>
    <p:sldId id="284" r:id="rId20"/>
    <p:sldId id="272" r:id="rId21"/>
    <p:sldId id="280" r:id="rId22"/>
    <p:sldId id="283" r:id="rId23"/>
    <p:sldId id="281" r:id="rId24"/>
    <p:sldId id="279" r:id="rId25"/>
    <p:sldId id="282" r:id="rId26"/>
  </p:sldIdLst>
  <p:sldSz cx="18288000" cy="10287000"/>
  <p:notesSz cx="6858000" cy="9144000"/>
  <p:embeddedFontLs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anva Sans" panose="020B0604020202020204" charset="0"/>
      <p:regular r:id="rId32"/>
    </p:embeddedFont>
    <p:embeddedFont>
      <p:font typeface="Luciole Bold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A839"/>
    <a:srgbClr val="9ACD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56" autoAdjust="0"/>
  </p:normalViewPr>
  <p:slideViewPr>
    <p:cSldViewPr>
      <p:cViewPr varScale="1">
        <p:scale>
          <a:sx n="52" d="100"/>
          <a:sy n="52" d="100"/>
        </p:scale>
        <p:origin x="16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7ABA1-C841-4B4E-A873-D7668EF89D50}" type="datetimeFigureOut">
              <a:rPr lang="fr-FR" smtClean="0"/>
              <a:t>14/06/2025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244F0D-75CC-4988-AEE0-F0FF5B9B52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4408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244F0D-75CC-4988-AEE0-F0FF5B9B52E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4226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0.jpe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6.jfif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5.jf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4.jfif"/><Relationship Id="rId5" Type="http://schemas.openxmlformats.org/officeDocument/2006/relationships/image" Target="../media/image4.svg"/><Relationship Id="rId10" Type="http://schemas.openxmlformats.org/officeDocument/2006/relationships/image" Target="../media/image13.jp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0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8.png"/><Relationship Id="rId5" Type="http://schemas.openxmlformats.org/officeDocument/2006/relationships/image" Target="../media/image4.sv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21.jp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5.jp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24.jpg"/><Relationship Id="rId2" Type="http://schemas.openxmlformats.org/officeDocument/2006/relationships/image" Target="../media/image1.png"/><Relationship Id="rId16" Type="http://schemas.openxmlformats.org/officeDocument/2006/relationships/image" Target="../media/image2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3.jpg"/><Relationship Id="rId5" Type="http://schemas.openxmlformats.org/officeDocument/2006/relationships/image" Target="../media/image4.svg"/><Relationship Id="rId15" Type="http://schemas.openxmlformats.org/officeDocument/2006/relationships/image" Target="../media/image27.jpg"/><Relationship Id="rId10" Type="http://schemas.openxmlformats.org/officeDocument/2006/relationships/image" Target="../media/image22.jp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26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30.jpg"/><Relationship Id="rId5" Type="http://schemas.openxmlformats.org/officeDocument/2006/relationships/image" Target="../media/image4.svg"/><Relationship Id="rId10" Type="http://schemas.openxmlformats.org/officeDocument/2006/relationships/image" Target="../media/image29.jp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35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36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33785" y="8306614"/>
            <a:ext cx="5170355" cy="2585177"/>
          </a:xfrm>
          <a:custGeom>
            <a:avLst/>
            <a:gdLst/>
            <a:ahLst/>
            <a:cxnLst/>
            <a:rect l="l" t="t" r="r" b="b"/>
            <a:pathLst>
              <a:path w="5170355" h="2585177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3838669" y="-633792"/>
            <a:ext cx="6649967" cy="3324983"/>
          </a:xfrm>
          <a:custGeom>
            <a:avLst/>
            <a:gdLst/>
            <a:ahLst/>
            <a:cxnLst/>
            <a:rect l="l" t="t" r="r" b="b"/>
            <a:pathLst>
              <a:path w="6649967" h="3324983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-3086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813545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9655" y="-23825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1358079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3057543" y="9258300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6840200" y="-1050061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76400" y="1028700"/>
            <a:ext cx="15542883" cy="9422064"/>
          </a:xfrm>
          <a:custGeom>
            <a:avLst/>
            <a:gdLst/>
            <a:ahLst/>
            <a:cxnLst/>
            <a:rect l="l" t="t" r="r" b="b"/>
            <a:pathLst>
              <a:path w="15542883" h="9422064">
                <a:moveTo>
                  <a:pt x="0" y="0"/>
                </a:moveTo>
                <a:lnTo>
                  <a:pt x="15542883" y="0"/>
                </a:lnTo>
                <a:lnTo>
                  <a:pt x="15542883" y="9422064"/>
                </a:lnTo>
                <a:lnTo>
                  <a:pt x="0" y="942206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764" r="-764" b="-282"/>
            </a:stretch>
          </a:blipFill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CF6420-AD7B-4676-BCD0-0B79BB753AF7}"/>
              </a:ext>
            </a:extLst>
          </p:cNvPr>
          <p:cNvSpPr/>
          <p:nvPr/>
        </p:nvSpPr>
        <p:spPr>
          <a:xfrm>
            <a:off x="3559142" y="8191500"/>
            <a:ext cx="10537858" cy="1981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0C9A21D-204D-4C2A-BAFE-AD466948C05B}"/>
              </a:ext>
            </a:extLst>
          </p:cNvPr>
          <p:cNvSpPr txBox="1"/>
          <p:nvPr/>
        </p:nvSpPr>
        <p:spPr>
          <a:xfrm>
            <a:off x="6551516" y="8183879"/>
            <a:ext cx="7225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tx2"/>
                </a:solidFill>
              </a:rPr>
              <a:t>Département Génie Informatique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34AFE24-B1CA-4558-9502-A255C9E3B7A0}"/>
              </a:ext>
            </a:extLst>
          </p:cNvPr>
          <p:cNvSpPr txBox="1"/>
          <p:nvPr/>
        </p:nvSpPr>
        <p:spPr>
          <a:xfrm>
            <a:off x="7976475" y="8800168"/>
            <a:ext cx="50152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tx2"/>
                </a:solidFill>
              </a:rPr>
              <a:t>Promotion 16</a:t>
            </a:r>
          </a:p>
          <a:p>
            <a:r>
              <a:rPr lang="fr-FR" sz="3600" b="1" dirty="0">
                <a:solidFill>
                  <a:schemeClr val="tx2"/>
                </a:solidFill>
              </a:rPr>
              <a:t>Groupe 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33785" y="8306614"/>
            <a:ext cx="5170355" cy="2585177"/>
          </a:xfrm>
          <a:custGeom>
            <a:avLst/>
            <a:gdLst/>
            <a:ahLst/>
            <a:cxnLst/>
            <a:rect l="l" t="t" r="r" b="b"/>
            <a:pathLst>
              <a:path w="5170355" h="2585177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3838669" y="-633792"/>
            <a:ext cx="6649967" cy="3324983"/>
          </a:xfrm>
          <a:custGeom>
            <a:avLst/>
            <a:gdLst/>
            <a:ahLst/>
            <a:cxnLst/>
            <a:rect l="l" t="t" r="r" b="b"/>
            <a:pathLst>
              <a:path w="6649967" h="3324983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-3086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813545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9655" y="-23825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714404" y="855982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8" name="Freeform 8"/>
          <p:cNvSpPr/>
          <p:nvPr/>
        </p:nvSpPr>
        <p:spPr>
          <a:xfrm>
            <a:off x="-2681056" y="8559823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7033021" y="-633792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00A7839-594C-425C-A086-A3C669043AF1}"/>
              </a:ext>
            </a:extLst>
          </p:cNvPr>
          <p:cNvSpPr txBox="1"/>
          <p:nvPr/>
        </p:nvSpPr>
        <p:spPr>
          <a:xfrm>
            <a:off x="1480155" y="9258300"/>
            <a:ext cx="1331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D8082152-2B73-4603-A71C-0BFE6762B108}"/>
              </a:ext>
            </a:extLst>
          </p:cNvPr>
          <p:cNvSpPr txBox="1"/>
          <p:nvPr/>
        </p:nvSpPr>
        <p:spPr>
          <a:xfrm>
            <a:off x="5867400" y="1996883"/>
            <a:ext cx="6145411" cy="897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80"/>
              </a:lnSpc>
              <a:spcBef>
                <a:spcPct val="0"/>
              </a:spcBef>
            </a:pPr>
            <a:r>
              <a:rPr lang="en-US" sz="688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THEME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A6B97F56-8964-4429-8434-31AC4FD10764}"/>
              </a:ext>
            </a:extLst>
          </p:cNvPr>
          <p:cNvSpPr txBox="1"/>
          <p:nvPr/>
        </p:nvSpPr>
        <p:spPr>
          <a:xfrm>
            <a:off x="1676401" y="4300157"/>
            <a:ext cx="14935199" cy="2654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8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&lt;&lt; </a:t>
            </a:r>
            <a:r>
              <a:rPr lang="fr-FR" sz="6000" b="1" dirty="0">
                <a:solidFill>
                  <a:srgbClr val="6AA839"/>
                </a:solidFill>
                <a:latin typeface="Luciole Bold"/>
              </a:rPr>
              <a:t>Mise en place d’une Application Web pour le Complexe Scolaire Billy-Ecole</a:t>
            </a:r>
            <a:r>
              <a:rPr lang="en-US" sz="6000" b="1" dirty="0">
                <a:solidFill>
                  <a:srgbClr val="6AA839"/>
                </a:solidFill>
                <a:latin typeface="Luciole Bold"/>
                <a:sym typeface="Luciole Bold"/>
              </a:rPr>
              <a:t> </a:t>
            </a:r>
            <a:r>
              <a:rPr lang="en-US" sz="60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&gt;&gt;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33785" y="8306614"/>
            <a:ext cx="5170355" cy="2585177"/>
          </a:xfrm>
          <a:custGeom>
            <a:avLst/>
            <a:gdLst/>
            <a:ahLst/>
            <a:cxnLst/>
            <a:rect l="l" t="t" r="r" b="b"/>
            <a:pathLst>
              <a:path w="5170355" h="2585177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3838669" y="-633792"/>
            <a:ext cx="6649967" cy="3324983"/>
          </a:xfrm>
          <a:custGeom>
            <a:avLst/>
            <a:gdLst/>
            <a:ahLst/>
            <a:cxnLst/>
            <a:rect l="l" t="t" r="r" b="b"/>
            <a:pathLst>
              <a:path w="6649967" h="3324983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-3086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813545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9655" y="-23825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1358079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681056" y="9258300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7033021" y="-633792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CF0C8C8-95AE-4474-A7D7-85CF5B6E22C1}"/>
              </a:ext>
            </a:extLst>
          </p:cNvPr>
          <p:cNvSpPr txBox="1"/>
          <p:nvPr/>
        </p:nvSpPr>
        <p:spPr>
          <a:xfrm>
            <a:off x="1480155" y="9258300"/>
            <a:ext cx="1331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7" name="Flèche : chevron 16">
            <a:extLst>
              <a:ext uri="{FF2B5EF4-FFF2-40B4-BE49-F238E27FC236}">
                <a16:creationId xmlns:a16="http://schemas.microsoft.com/office/drawing/2014/main" id="{D3B3970A-E361-4B9D-A4C4-36D7C62F9702}"/>
              </a:ext>
            </a:extLst>
          </p:cNvPr>
          <p:cNvSpPr/>
          <p:nvPr/>
        </p:nvSpPr>
        <p:spPr>
          <a:xfrm>
            <a:off x="2187592" y="2385232"/>
            <a:ext cx="5530566" cy="994708"/>
          </a:xfrm>
          <a:prstGeom prst="chevron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500" b="1" dirty="0">
                <a:solidFill>
                  <a:srgbClr val="6AA839"/>
                </a:solidFill>
                <a:latin typeface="Luciole Bold"/>
              </a:rPr>
              <a:t>INTRODUCTION</a:t>
            </a:r>
          </a:p>
        </p:txBody>
      </p:sp>
      <p:sp>
        <p:nvSpPr>
          <p:cNvPr id="21" name="Flèche : chevron 20">
            <a:extLst>
              <a:ext uri="{FF2B5EF4-FFF2-40B4-BE49-F238E27FC236}">
                <a16:creationId xmlns:a16="http://schemas.microsoft.com/office/drawing/2014/main" id="{235871D2-387A-4444-BE1F-89F91A5615EB}"/>
              </a:ext>
            </a:extLst>
          </p:cNvPr>
          <p:cNvSpPr/>
          <p:nvPr/>
        </p:nvSpPr>
        <p:spPr>
          <a:xfrm>
            <a:off x="2155558" y="4838700"/>
            <a:ext cx="8157090" cy="994708"/>
          </a:xfrm>
          <a:prstGeom prst="chevron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500" b="1" dirty="0">
                <a:solidFill>
                  <a:srgbClr val="6AA839"/>
                </a:solidFill>
                <a:latin typeface="Luciole Bold"/>
              </a:rPr>
              <a:t>ANALYSE ET CONCEPTION</a:t>
            </a:r>
          </a:p>
        </p:txBody>
      </p:sp>
      <p:sp>
        <p:nvSpPr>
          <p:cNvPr id="23" name="Flèche : chevron 22">
            <a:extLst>
              <a:ext uri="{FF2B5EF4-FFF2-40B4-BE49-F238E27FC236}">
                <a16:creationId xmlns:a16="http://schemas.microsoft.com/office/drawing/2014/main" id="{B7932FAB-17E0-451E-8871-D69598DB54A4}"/>
              </a:ext>
            </a:extLst>
          </p:cNvPr>
          <p:cNvSpPr/>
          <p:nvPr/>
        </p:nvSpPr>
        <p:spPr>
          <a:xfrm>
            <a:off x="2122822" y="3615392"/>
            <a:ext cx="10678778" cy="994708"/>
          </a:xfrm>
          <a:prstGeom prst="chevron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500" b="1" dirty="0">
                <a:solidFill>
                  <a:srgbClr val="6AA839"/>
                </a:solidFill>
                <a:latin typeface="Luciole Bold"/>
              </a:rPr>
              <a:t>PRESENTATION DE L’ENVIRONNEMENT</a:t>
            </a:r>
          </a:p>
        </p:txBody>
      </p:sp>
      <p:sp>
        <p:nvSpPr>
          <p:cNvPr id="25" name="Octogone 24">
            <a:extLst>
              <a:ext uri="{FF2B5EF4-FFF2-40B4-BE49-F238E27FC236}">
                <a16:creationId xmlns:a16="http://schemas.microsoft.com/office/drawing/2014/main" id="{EB0F5C7F-9BC9-4285-899F-8E9F54B8C6A9}"/>
              </a:ext>
            </a:extLst>
          </p:cNvPr>
          <p:cNvSpPr/>
          <p:nvPr/>
        </p:nvSpPr>
        <p:spPr>
          <a:xfrm>
            <a:off x="821476" y="2396192"/>
            <a:ext cx="1317358" cy="994708"/>
          </a:xfrm>
          <a:prstGeom prst="octagon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dirty="0">
                <a:solidFill>
                  <a:srgbClr val="92D050"/>
                </a:solidFill>
              </a:rPr>
              <a:t>1</a:t>
            </a:r>
          </a:p>
        </p:txBody>
      </p:sp>
      <p:sp>
        <p:nvSpPr>
          <p:cNvPr id="27" name="Octogone 26">
            <a:extLst>
              <a:ext uri="{FF2B5EF4-FFF2-40B4-BE49-F238E27FC236}">
                <a16:creationId xmlns:a16="http://schemas.microsoft.com/office/drawing/2014/main" id="{3045E223-FEE9-40FB-B156-ABE689B3949D}"/>
              </a:ext>
            </a:extLst>
          </p:cNvPr>
          <p:cNvSpPr/>
          <p:nvPr/>
        </p:nvSpPr>
        <p:spPr>
          <a:xfrm>
            <a:off x="838200" y="4838700"/>
            <a:ext cx="1317358" cy="994708"/>
          </a:xfrm>
          <a:prstGeom prst="octagon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dirty="0">
                <a:solidFill>
                  <a:srgbClr val="92D050"/>
                </a:solidFill>
              </a:rPr>
              <a:t>3</a:t>
            </a:r>
          </a:p>
        </p:txBody>
      </p:sp>
      <p:sp>
        <p:nvSpPr>
          <p:cNvPr id="28" name="Octogone 27">
            <a:extLst>
              <a:ext uri="{FF2B5EF4-FFF2-40B4-BE49-F238E27FC236}">
                <a16:creationId xmlns:a16="http://schemas.microsoft.com/office/drawing/2014/main" id="{688F76F8-D38C-47D2-AF0A-E5AFF7A8FD66}"/>
              </a:ext>
            </a:extLst>
          </p:cNvPr>
          <p:cNvSpPr/>
          <p:nvPr/>
        </p:nvSpPr>
        <p:spPr>
          <a:xfrm>
            <a:off x="838200" y="3613911"/>
            <a:ext cx="1317358" cy="994708"/>
          </a:xfrm>
          <a:prstGeom prst="octagon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dirty="0">
                <a:solidFill>
                  <a:srgbClr val="92D050"/>
                </a:solidFill>
              </a:rPr>
              <a:t>2</a:t>
            </a:r>
          </a:p>
          <a:p>
            <a:pPr algn="ctr"/>
            <a:endParaRPr lang="fr-FR" dirty="0"/>
          </a:p>
        </p:txBody>
      </p:sp>
      <p:sp>
        <p:nvSpPr>
          <p:cNvPr id="29" name="Flèche : chevron 28">
            <a:extLst>
              <a:ext uri="{FF2B5EF4-FFF2-40B4-BE49-F238E27FC236}">
                <a16:creationId xmlns:a16="http://schemas.microsoft.com/office/drawing/2014/main" id="{77A36CDF-73AC-4952-A5A2-3156154A273C}"/>
              </a:ext>
            </a:extLst>
          </p:cNvPr>
          <p:cNvSpPr/>
          <p:nvPr/>
        </p:nvSpPr>
        <p:spPr>
          <a:xfrm>
            <a:off x="2130160" y="6057900"/>
            <a:ext cx="9983406" cy="994708"/>
          </a:xfrm>
          <a:prstGeom prst="chevron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500" b="1" dirty="0">
                <a:solidFill>
                  <a:srgbClr val="6AA839"/>
                </a:solidFill>
                <a:latin typeface="Luciole Bold"/>
              </a:rPr>
              <a:t>PRESENTATION DE L’APPLICATION</a:t>
            </a:r>
          </a:p>
        </p:txBody>
      </p:sp>
      <p:sp>
        <p:nvSpPr>
          <p:cNvPr id="30" name="Octogone 29">
            <a:extLst>
              <a:ext uri="{FF2B5EF4-FFF2-40B4-BE49-F238E27FC236}">
                <a16:creationId xmlns:a16="http://schemas.microsoft.com/office/drawing/2014/main" id="{86A42C2A-EAB9-4794-BDD6-E1EA683C0AC0}"/>
              </a:ext>
            </a:extLst>
          </p:cNvPr>
          <p:cNvSpPr/>
          <p:nvPr/>
        </p:nvSpPr>
        <p:spPr>
          <a:xfrm>
            <a:off x="762000" y="6057900"/>
            <a:ext cx="1317358" cy="994708"/>
          </a:xfrm>
          <a:prstGeom prst="octagon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dirty="0">
                <a:solidFill>
                  <a:srgbClr val="92D050"/>
                </a:solidFill>
              </a:rPr>
              <a:t>4</a:t>
            </a:r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92BA0E54-13F7-4E0A-A152-61CAA052D51A}"/>
              </a:ext>
            </a:extLst>
          </p:cNvPr>
          <p:cNvSpPr txBox="1"/>
          <p:nvPr/>
        </p:nvSpPr>
        <p:spPr>
          <a:xfrm>
            <a:off x="5276876" y="858925"/>
            <a:ext cx="8856137" cy="897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8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PLAN DU TRAVAIL</a:t>
            </a:r>
          </a:p>
        </p:txBody>
      </p:sp>
      <p:sp>
        <p:nvSpPr>
          <p:cNvPr id="35" name="Flèche : chevron 34">
            <a:extLst>
              <a:ext uri="{FF2B5EF4-FFF2-40B4-BE49-F238E27FC236}">
                <a16:creationId xmlns:a16="http://schemas.microsoft.com/office/drawing/2014/main" id="{FB0642CC-A509-41E6-BB0C-C45B9B91FB1E}"/>
              </a:ext>
            </a:extLst>
          </p:cNvPr>
          <p:cNvSpPr/>
          <p:nvPr/>
        </p:nvSpPr>
        <p:spPr>
          <a:xfrm>
            <a:off x="2003158" y="7275619"/>
            <a:ext cx="14227442" cy="994708"/>
          </a:xfrm>
          <a:prstGeom prst="chevron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500" b="1" dirty="0">
                <a:solidFill>
                  <a:srgbClr val="6AA839"/>
                </a:solidFill>
                <a:latin typeface="Luciole Bold"/>
              </a:rPr>
              <a:t>CONCLUSION,RECOMMENDATION,REMERCIEMENT</a:t>
            </a:r>
          </a:p>
        </p:txBody>
      </p:sp>
      <p:sp>
        <p:nvSpPr>
          <p:cNvPr id="36" name="Octogone 35">
            <a:extLst>
              <a:ext uri="{FF2B5EF4-FFF2-40B4-BE49-F238E27FC236}">
                <a16:creationId xmlns:a16="http://schemas.microsoft.com/office/drawing/2014/main" id="{7B0C57FA-9820-4B9D-B3D8-39720ED49F38}"/>
              </a:ext>
            </a:extLst>
          </p:cNvPr>
          <p:cNvSpPr/>
          <p:nvPr/>
        </p:nvSpPr>
        <p:spPr>
          <a:xfrm>
            <a:off x="685800" y="7307152"/>
            <a:ext cx="1317358" cy="994708"/>
          </a:xfrm>
          <a:prstGeom prst="octagon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dirty="0">
                <a:solidFill>
                  <a:srgbClr val="92D05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33785" y="8306614"/>
            <a:ext cx="5170355" cy="2585177"/>
          </a:xfrm>
          <a:custGeom>
            <a:avLst/>
            <a:gdLst/>
            <a:ahLst/>
            <a:cxnLst/>
            <a:rect l="l" t="t" r="r" b="b"/>
            <a:pathLst>
              <a:path w="5170355" h="2585177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3838669" y="-633792"/>
            <a:ext cx="6649967" cy="3324983"/>
          </a:xfrm>
          <a:custGeom>
            <a:avLst/>
            <a:gdLst/>
            <a:ahLst/>
            <a:cxnLst/>
            <a:rect l="l" t="t" r="r" b="b"/>
            <a:pathLst>
              <a:path w="6649967" h="3324983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-3086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813545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9655" y="-23825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1358079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3048000" y="9313140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7033021" y="-633792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8904568-C9A8-47A1-8B5F-2AC1F5E1AA50}"/>
              </a:ext>
            </a:extLst>
          </p:cNvPr>
          <p:cNvSpPr txBox="1"/>
          <p:nvPr/>
        </p:nvSpPr>
        <p:spPr>
          <a:xfrm>
            <a:off x="1480155" y="9258300"/>
            <a:ext cx="1331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51CFB3C-6A24-4783-A613-E9ECE860D367}"/>
              </a:ext>
            </a:extLst>
          </p:cNvPr>
          <p:cNvSpPr txBox="1"/>
          <p:nvPr/>
        </p:nvSpPr>
        <p:spPr>
          <a:xfrm>
            <a:off x="2884170" y="4358670"/>
            <a:ext cx="125196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1-INTRODUCTION</a:t>
            </a:r>
            <a:endParaRPr lang="fr-FR" sz="6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33785" y="8306614"/>
            <a:ext cx="5170355" cy="2585177"/>
          </a:xfrm>
          <a:custGeom>
            <a:avLst/>
            <a:gdLst/>
            <a:ahLst/>
            <a:cxnLst/>
            <a:rect l="l" t="t" r="r" b="b"/>
            <a:pathLst>
              <a:path w="5170355" h="2585177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4677014" y="-276354"/>
            <a:ext cx="6649967" cy="3324983"/>
          </a:xfrm>
          <a:custGeom>
            <a:avLst/>
            <a:gdLst/>
            <a:ahLst/>
            <a:cxnLst/>
            <a:rect l="l" t="t" r="r" b="b"/>
            <a:pathLst>
              <a:path w="6649967" h="3324983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4" name="Freeform 4"/>
          <p:cNvSpPr/>
          <p:nvPr/>
        </p:nvSpPr>
        <p:spPr>
          <a:xfrm>
            <a:off x="16230600" y="-3086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813545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615275" y="-236117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7" name="Freeform 7"/>
          <p:cNvSpPr/>
          <p:nvPr/>
        </p:nvSpPr>
        <p:spPr>
          <a:xfrm flipV="1">
            <a:off x="-1358079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895600" y="9313140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7033021" y="-633792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536396" y="3009882"/>
            <a:ext cx="12954000" cy="98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80"/>
              </a:lnSpc>
              <a:spcBef>
                <a:spcPct val="0"/>
              </a:spcBef>
            </a:pPr>
            <a:r>
              <a:rPr lang="en-US" sz="96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2.1-HISTORIQUE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65D7BD2-7665-4D88-A9D7-93F3237F65A4}"/>
              </a:ext>
            </a:extLst>
          </p:cNvPr>
          <p:cNvSpPr txBox="1"/>
          <p:nvPr/>
        </p:nvSpPr>
        <p:spPr>
          <a:xfrm>
            <a:off x="1480155" y="9258300"/>
            <a:ext cx="1331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BA2AC20-53F8-4B84-AA2D-96498C4DF375}"/>
              </a:ext>
            </a:extLst>
          </p:cNvPr>
          <p:cNvSpPr txBox="1"/>
          <p:nvPr/>
        </p:nvSpPr>
        <p:spPr>
          <a:xfrm>
            <a:off x="-173908" y="-71604"/>
            <a:ext cx="18635816" cy="1286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0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2-PRESENTATION DE L’ENVIRONNEMENT</a:t>
            </a:r>
            <a:endParaRPr lang="en-US" sz="1400" b="1" dirty="0">
              <a:solidFill>
                <a:srgbClr val="6AA839"/>
              </a:solidFill>
              <a:latin typeface="Luciole Bold"/>
              <a:ea typeface="Luciole Bold"/>
              <a:cs typeface="Luciole Bold"/>
              <a:sym typeface="Luciole Bold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C46C17A-3FE4-4FDB-AAF1-85855AA1C4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4228234"/>
            <a:ext cx="3926841" cy="45898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flipV="1">
            <a:off x="-5571022" y="-621834"/>
            <a:ext cx="6649967" cy="3324983"/>
          </a:xfrm>
          <a:custGeom>
            <a:avLst/>
            <a:gdLst/>
            <a:ahLst/>
            <a:cxnLst/>
            <a:rect l="l" t="t" r="r" b="b"/>
            <a:pathLst>
              <a:path w="6649967" h="3324983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-3086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474596" y="-265334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1371600" y="97155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7033021" y="-633792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40128" y="525309"/>
            <a:ext cx="18123249" cy="84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43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2.2-SITUATION GEOGRAPHIQUE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7AD0D4D6-268F-4A92-9FAF-35B19B163B1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78" y="1440094"/>
            <a:ext cx="16274444" cy="8046806"/>
          </a:xfrm>
          <a:prstGeom prst="rect">
            <a:avLst/>
          </a:prstGeom>
          <a:ln w="76200">
            <a:solidFill>
              <a:srgbClr val="6AA839"/>
            </a:solidFill>
          </a:ln>
        </p:spPr>
      </p:pic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EDDD3E87-8B66-4426-8051-4050CC60A9A1}"/>
              </a:ext>
            </a:extLst>
          </p:cNvPr>
          <p:cNvSpPr/>
          <p:nvPr/>
        </p:nvSpPr>
        <p:spPr>
          <a:xfrm rot="5775877">
            <a:off x="9247448" y="5921241"/>
            <a:ext cx="2058168" cy="1924766"/>
          </a:xfrm>
          <a:prstGeom prst="rightArrow">
            <a:avLst/>
          </a:prstGeom>
          <a:noFill/>
          <a:ln w="127000">
            <a:solidFill>
              <a:srgbClr val="6AA8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89F9C65-850C-438A-B869-838E7F0CDAB5}"/>
              </a:ext>
            </a:extLst>
          </p:cNvPr>
          <p:cNvSpPr txBox="1"/>
          <p:nvPr/>
        </p:nvSpPr>
        <p:spPr>
          <a:xfrm rot="20142172">
            <a:off x="5080091" y="4305875"/>
            <a:ext cx="289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chemeClr val="bg1"/>
                </a:solidFill>
              </a:rPr>
              <a:t>GS SEMYG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F8B077C-5A7A-4712-BC65-EE705F5241F6}"/>
              </a:ext>
            </a:extLst>
          </p:cNvPr>
          <p:cNvSpPr txBox="1"/>
          <p:nvPr/>
        </p:nvSpPr>
        <p:spPr>
          <a:xfrm>
            <a:off x="10785721" y="2298808"/>
            <a:ext cx="4117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chemeClr val="bg1"/>
                </a:solidFill>
              </a:rPr>
              <a:t>Camp Alpha Yaya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1ACFAF8-7039-406F-8F65-B69934C7B9E3}"/>
              </a:ext>
            </a:extLst>
          </p:cNvPr>
          <p:cNvSpPr txBox="1"/>
          <p:nvPr/>
        </p:nvSpPr>
        <p:spPr>
          <a:xfrm>
            <a:off x="12368843" y="4652734"/>
            <a:ext cx="289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chemeClr val="bg1"/>
                </a:solidFill>
              </a:rPr>
              <a:t>Lycée AST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9C0F9F0-8443-4C6B-9C74-11F5460FBCC3}"/>
              </a:ext>
            </a:extLst>
          </p:cNvPr>
          <p:cNvSpPr txBox="1"/>
          <p:nvPr/>
        </p:nvSpPr>
        <p:spPr>
          <a:xfrm>
            <a:off x="7242708" y="8223245"/>
            <a:ext cx="70317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chemeClr val="bg1"/>
                </a:solidFill>
              </a:rPr>
              <a:t>Aéroport Ahmed Sékou Toure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E02BAA6-4E1A-4B03-B51C-7D7AD6545CD1}"/>
              </a:ext>
            </a:extLst>
          </p:cNvPr>
          <p:cNvSpPr txBox="1"/>
          <p:nvPr/>
        </p:nvSpPr>
        <p:spPr>
          <a:xfrm>
            <a:off x="1219200" y="9525000"/>
            <a:ext cx="1331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6" name="Flèche : droite 25">
            <a:extLst>
              <a:ext uri="{FF2B5EF4-FFF2-40B4-BE49-F238E27FC236}">
                <a16:creationId xmlns:a16="http://schemas.microsoft.com/office/drawing/2014/main" id="{680B6B42-D3B0-45E9-8107-28774513DCAC}"/>
              </a:ext>
            </a:extLst>
          </p:cNvPr>
          <p:cNvSpPr/>
          <p:nvPr/>
        </p:nvSpPr>
        <p:spPr>
          <a:xfrm rot="16862846">
            <a:off x="9275423" y="1167264"/>
            <a:ext cx="1319547" cy="1924766"/>
          </a:xfrm>
          <a:prstGeom prst="rightArrow">
            <a:avLst/>
          </a:prstGeom>
          <a:noFill/>
          <a:ln w="127000">
            <a:solidFill>
              <a:srgbClr val="6AA8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Flèche : droite 26">
            <a:extLst>
              <a:ext uri="{FF2B5EF4-FFF2-40B4-BE49-F238E27FC236}">
                <a16:creationId xmlns:a16="http://schemas.microsoft.com/office/drawing/2014/main" id="{BE8BB489-4207-4C61-A429-BF200B1813F1}"/>
              </a:ext>
            </a:extLst>
          </p:cNvPr>
          <p:cNvSpPr/>
          <p:nvPr/>
        </p:nvSpPr>
        <p:spPr>
          <a:xfrm rot="9645576">
            <a:off x="5062634" y="3855607"/>
            <a:ext cx="2395106" cy="1924766"/>
          </a:xfrm>
          <a:prstGeom prst="rightArrow">
            <a:avLst/>
          </a:prstGeom>
          <a:noFill/>
          <a:ln w="127000">
            <a:solidFill>
              <a:srgbClr val="6AA8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Flèche : droite 27">
            <a:extLst>
              <a:ext uri="{FF2B5EF4-FFF2-40B4-BE49-F238E27FC236}">
                <a16:creationId xmlns:a16="http://schemas.microsoft.com/office/drawing/2014/main" id="{57AE5FDE-3234-496B-BFCE-182027214720}"/>
              </a:ext>
            </a:extLst>
          </p:cNvPr>
          <p:cNvSpPr/>
          <p:nvPr/>
        </p:nvSpPr>
        <p:spPr>
          <a:xfrm rot="356050">
            <a:off x="12372705" y="4099621"/>
            <a:ext cx="2532494" cy="1924766"/>
          </a:xfrm>
          <a:prstGeom prst="rightArrow">
            <a:avLst/>
          </a:prstGeom>
          <a:noFill/>
          <a:ln w="127000">
            <a:solidFill>
              <a:srgbClr val="6AA8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D53A6AD5-E0AF-4243-A50D-6A7BDE3AA856}"/>
              </a:ext>
            </a:extLst>
          </p:cNvPr>
          <p:cNvSpPr/>
          <p:nvPr/>
        </p:nvSpPr>
        <p:spPr>
          <a:xfrm>
            <a:off x="-3200400" y="9715500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CCFEEEF9-0758-4EDD-9247-A94277736B15}"/>
              </a:ext>
            </a:extLst>
          </p:cNvPr>
          <p:cNvSpPr txBox="1"/>
          <p:nvPr/>
        </p:nvSpPr>
        <p:spPr>
          <a:xfrm>
            <a:off x="-1017249" y="-330063"/>
            <a:ext cx="18635816" cy="1286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0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2-PRESENTATION DE L’ENVIRONNEMENT</a:t>
            </a:r>
            <a:endParaRPr lang="en-US" sz="1400" b="1" dirty="0">
              <a:solidFill>
                <a:srgbClr val="6AA839"/>
              </a:solidFill>
              <a:latin typeface="Luciole Bold"/>
              <a:ea typeface="Luciole Bold"/>
              <a:cs typeface="Luciole Bold"/>
              <a:sym typeface="Luciole Bold"/>
            </a:endParaRPr>
          </a:p>
        </p:txBody>
      </p:sp>
    </p:spTree>
    <p:extLst>
      <p:ext uri="{BB962C8B-B14F-4D97-AF65-F5344CB8AC3E}">
        <p14:creationId xmlns:p14="http://schemas.microsoft.com/office/powerpoint/2010/main" val="4090474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33785" y="8306614"/>
            <a:ext cx="5170355" cy="2585177"/>
          </a:xfrm>
          <a:custGeom>
            <a:avLst/>
            <a:gdLst/>
            <a:ahLst/>
            <a:cxnLst/>
            <a:rect l="l" t="t" r="r" b="b"/>
            <a:pathLst>
              <a:path w="5170355" h="2585177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5522007" y="-7171"/>
            <a:ext cx="6649967" cy="3324983"/>
          </a:xfrm>
          <a:custGeom>
            <a:avLst/>
            <a:gdLst/>
            <a:ahLst/>
            <a:cxnLst/>
            <a:rect l="l" t="t" r="r" b="b"/>
            <a:pathLst>
              <a:path w="6649967" h="3324983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-3086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813545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402855" y="-232664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7" name="Freeform 7"/>
          <p:cNvSpPr/>
          <p:nvPr/>
        </p:nvSpPr>
        <p:spPr>
          <a:xfrm flipV="1">
            <a:off x="-1358079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3048000" y="9313140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7033021" y="-633792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38200" y="1727177"/>
            <a:ext cx="17221200" cy="7074169"/>
          </a:xfrm>
          <a:custGeom>
            <a:avLst/>
            <a:gdLst/>
            <a:ahLst/>
            <a:cxnLst/>
            <a:rect l="l" t="t" r="r" b="b"/>
            <a:pathLst>
              <a:path w="15649706" h="6022907">
                <a:moveTo>
                  <a:pt x="0" y="0"/>
                </a:moveTo>
                <a:lnTo>
                  <a:pt x="15649706" y="0"/>
                </a:lnTo>
                <a:lnTo>
                  <a:pt x="15649706" y="6022907"/>
                </a:lnTo>
                <a:lnTo>
                  <a:pt x="0" y="6022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5904" r="-630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29595" y="542516"/>
            <a:ext cx="13560148" cy="1112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09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2.3-L’ORGANIGRAMME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75C5B89-2AB8-4245-85D3-26F6435CE50D}"/>
              </a:ext>
            </a:extLst>
          </p:cNvPr>
          <p:cNvSpPr txBox="1"/>
          <p:nvPr/>
        </p:nvSpPr>
        <p:spPr>
          <a:xfrm>
            <a:off x="1480155" y="9258300"/>
            <a:ext cx="1331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71DF84B-8EE7-46D3-A4C4-DEC8695212FE}"/>
              </a:ext>
            </a:extLst>
          </p:cNvPr>
          <p:cNvSpPr txBox="1"/>
          <p:nvPr/>
        </p:nvSpPr>
        <p:spPr>
          <a:xfrm>
            <a:off x="-930620" y="-75278"/>
            <a:ext cx="18635816" cy="1286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0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2-PRESENTATION DE L’ENVIRONNEMENT</a:t>
            </a:r>
            <a:endParaRPr lang="en-US" sz="1400" b="1" dirty="0">
              <a:solidFill>
                <a:srgbClr val="6AA839"/>
              </a:solidFill>
              <a:latin typeface="Luciole Bold"/>
              <a:ea typeface="Luciole Bold"/>
              <a:cs typeface="Luciole Bold"/>
              <a:sym typeface="Luciole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33785" y="8306614"/>
            <a:ext cx="5170355" cy="2585177"/>
          </a:xfrm>
          <a:custGeom>
            <a:avLst/>
            <a:gdLst/>
            <a:ahLst/>
            <a:cxnLst/>
            <a:rect l="l" t="t" r="r" b="b"/>
            <a:pathLst>
              <a:path w="5170355" h="2585177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3838669" y="-633792"/>
            <a:ext cx="6649967" cy="3324983"/>
          </a:xfrm>
          <a:custGeom>
            <a:avLst/>
            <a:gdLst/>
            <a:ahLst/>
            <a:cxnLst/>
            <a:rect l="l" t="t" r="r" b="b"/>
            <a:pathLst>
              <a:path w="6649967" h="3324983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-3086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813545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9655" y="-23825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1358079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895600" y="9313140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7033021" y="-633792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61999" y="3707641"/>
            <a:ext cx="17166345" cy="1320874"/>
          </a:xfrm>
          <a:prstGeom prst="rect">
            <a:avLst/>
          </a:prstGeom>
          <a:ln w="76200">
            <a:solidFill>
              <a:srgbClr val="6AA839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09"/>
              </a:lnSpc>
              <a:spcBef>
                <a:spcPct val="0"/>
              </a:spcBef>
            </a:pPr>
            <a:r>
              <a:rPr lang="en-US" sz="88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3-ANALYSE ET CONCEPTION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9EF959E-BF0D-4A00-95F4-4AA8E9254371}"/>
              </a:ext>
            </a:extLst>
          </p:cNvPr>
          <p:cNvSpPr txBox="1"/>
          <p:nvPr/>
        </p:nvSpPr>
        <p:spPr>
          <a:xfrm>
            <a:off x="1480155" y="9258300"/>
            <a:ext cx="1331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33785" y="9187723"/>
            <a:ext cx="5170355" cy="2585177"/>
          </a:xfrm>
          <a:custGeom>
            <a:avLst/>
            <a:gdLst/>
            <a:ahLst/>
            <a:cxnLst/>
            <a:rect l="l" t="t" r="r" b="b"/>
            <a:pathLst>
              <a:path w="5170355" h="2585177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4572000" y="-800100"/>
            <a:ext cx="6649967" cy="3324983"/>
          </a:xfrm>
          <a:custGeom>
            <a:avLst/>
            <a:gdLst/>
            <a:ahLst/>
            <a:cxnLst/>
            <a:rect l="l" t="t" r="r" b="b"/>
            <a:pathLst>
              <a:path w="6649967" h="3324983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-3086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5" name="Freeform 5"/>
          <p:cNvSpPr/>
          <p:nvPr/>
        </p:nvSpPr>
        <p:spPr>
          <a:xfrm>
            <a:off x="13813545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9655" y="-3009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1247017" y="961729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681056" y="9639300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7033021" y="-1104900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4E35062-BB55-492C-924F-9B8444FD0A3D}"/>
              </a:ext>
            </a:extLst>
          </p:cNvPr>
          <p:cNvSpPr txBox="1"/>
          <p:nvPr/>
        </p:nvSpPr>
        <p:spPr>
          <a:xfrm>
            <a:off x="-2883474" y="4371770"/>
            <a:ext cx="502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4400" dirty="0">
              <a:solidFill>
                <a:srgbClr val="92D050"/>
              </a:solidFill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BCC33A65-1FE4-4D1A-A7FE-A2DCC48CD0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8063233"/>
            <a:ext cx="2114550" cy="1524099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6C19B4FE-A72F-4CCE-86B1-BE4682D9AB20}"/>
              </a:ext>
            </a:extLst>
          </p:cNvPr>
          <p:cNvSpPr txBox="1"/>
          <p:nvPr/>
        </p:nvSpPr>
        <p:spPr>
          <a:xfrm>
            <a:off x="1480155" y="9410700"/>
            <a:ext cx="1331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/>
                </a:solidFill>
              </a:rPr>
              <a:t>8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CC1AD66D-BB66-40D0-9229-E1B4F3EBD4A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790" y="6192988"/>
            <a:ext cx="2143125" cy="1670193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BF3BAB1E-0FC8-4FB6-BA4B-44E29119FA1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185" y="4762500"/>
            <a:ext cx="2466975" cy="1446550"/>
          </a:xfrm>
          <a:prstGeom prst="rect">
            <a:avLst/>
          </a:prstGeom>
        </p:spPr>
      </p:pic>
      <p:graphicFrame>
        <p:nvGraphicFramePr>
          <p:cNvPr id="32" name="Tableau 32">
            <a:extLst>
              <a:ext uri="{FF2B5EF4-FFF2-40B4-BE49-F238E27FC236}">
                <a16:creationId xmlns:a16="http://schemas.microsoft.com/office/drawing/2014/main" id="{C93BA923-3BD7-4406-B8A9-647C0FAAA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117740"/>
              </p:ext>
            </p:extLst>
          </p:nvPr>
        </p:nvGraphicFramePr>
        <p:xfrm>
          <a:off x="1143000" y="1562100"/>
          <a:ext cx="16078200" cy="78265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9100">
                  <a:extLst>
                    <a:ext uri="{9D8B030D-6E8A-4147-A177-3AD203B41FA5}">
                      <a16:colId xmlns:a16="http://schemas.microsoft.com/office/drawing/2014/main" val="2468929407"/>
                    </a:ext>
                  </a:extLst>
                </a:gridCol>
                <a:gridCol w="8039100">
                  <a:extLst>
                    <a:ext uri="{9D8B030D-6E8A-4147-A177-3AD203B41FA5}">
                      <a16:colId xmlns:a16="http://schemas.microsoft.com/office/drawing/2014/main" val="648064126"/>
                    </a:ext>
                  </a:extLst>
                </a:gridCol>
              </a:tblGrid>
              <a:tr h="1336164">
                <a:tc>
                  <a:txBody>
                    <a:bodyPr/>
                    <a:lstStyle/>
                    <a:p>
                      <a:pPr algn="ctr"/>
                      <a:r>
                        <a:rPr lang="fr-FR" sz="4000" dirty="0"/>
                        <a:t>Image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4000" dirty="0"/>
                        <a:t>Nom</a:t>
                      </a:r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A8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803241"/>
                  </a:ext>
                </a:extLst>
              </a:tr>
              <a:tr h="1013269">
                <a:tc rowSpan="2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4000" dirty="0">
                          <a:solidFill>
                            <a:schemeClr val="tx1"/>
                          </a:solidFill>
                        </a:rPr>
                        <a:t>Hp core i5     3</a:t>
                      </a:r>
                    </a:p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564043"/>
                  </a:ext>
                </a:extLst>
              </a:tr>
              <a:tr h="1004429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4000" dirty="0">
                          <a:solidFill>
                            <a:schemeClr val="tx1"/>
                          </a:solidFill>
                        </a:rPr>
                        <a:t>MacBook      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528937"/>
                  </a:ext>
                </a:extLst>
              </a:tr>
              <a:tr h="1336164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4000" dirty="0">
                          <a:solidFill>
                            <a:schemeClr val="tx1"/>
                          </a:solidFill>
                        </a:rPr>
                        <a:t>2 Imprimantes Hp </a:t>
                      </a:r>
                    </a:p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641725"/>
                  </a:ext>
                </a:extLst>
              </a:tr>
              <a:tr h="180034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4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Les Registres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6146041"/>
                  </a:ext>
                </a:extLst>
              </a:tr>
              <a:tr h="1336164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4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Fichiers Excel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973377"/>
                  </a:ext>
                </a:extLst>
              </a:tr>
            </a:tbl>
          </a:graphicData>
        </a:graphic>
      </p:graphicFrame>
      <p:pic>
        <p:nvPicPr>
          <p:cNvPr id="33" name="Image 32">
            <a:extLst>
              <a:ext uri="{FF2B5EF4-FFF2-40B4-BE49-F238E27FC236}">
                <a16:creationId xmlns:a16="http://schemas.microsoft.com/office/drawing/2014/main" id="{4E350DC6-8C18-4435-9B8E-A22D7283B97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3086100"/>
            <a:ext cx="3268692" cy="1310647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607FC8D0-7445-4A8D-95E7-3F46FE73A0D2}"/>
              </a:ext>
            </a:extLst>
          </p:cNvPr>
          <p:cNvSpPr txBox="1"/>
          <p:nvPr/>
        </p:nvSpPr>
        <p:spPr>
          <a:xfrm>
            <a:off x="490384" y="-327031"/>
            <a:ext cx="12882716" cy="1286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0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3.1-ANALYSE</a:t>
            </a:r>
            <a:endParaRPr lang="en-US" sz="1800" b="1" dirty="0">
              <a:solidFill>
                <a:srgbClr val="6AA839"/>
              </a:solidFill>
              <a:latin typeface="Luciole Bold"/>
              <a:ea typeface="Luciole Bold"/>
              <a:cs typeface="Luciole Bold"/>
              <a:sym typeface="Luciole Bold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60DBF669-AD0B-48EC-8ECF-2E21C9F3B9BF}"/>
              </a:ext>
            </a:extLst>
          </p:cNvPr>
          <p:cNvSpPr txBox="1"/>
          <p:nvPr/>
        </p:nvSpPr>
        <p:spPr>
          <a:xfrm>
            <a:off x="2499051" y="281060"/>
            <a:ext cx="12882716" cy="1232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09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3.1.1-Etude de </a:t>
            </a:r>
            <a:r>
              <a:rPr lang="en-US" sz="3600" b="1" dirty="0" err="1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l’existant</a:t>
            </a:r>
            <a:r>
              <a:rPr lang="en-US" sz="36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49743" y="8340643"/>
            <a:ext cx="5170355" cy="2585177"/>
          </a:xfrm>
          <a:custGeom>
            <a:avLst/>
            <a:gdLst/>
            <a:ahLst/>
            <a:cxnLst/>
            <a:rect l="l" t="t" r="r" b="b"/>
            <a:pathLst>
              <a:path w="5170355" h="2585177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3838669" y="-633792"/>
            <a:ext cx="6649967" cy="3324983"/>
          </a:xfrm>
          <a:custGeom>
            <a:avLst/>
            <a:gdLst/>
            <a:ahLst/>
            <a:cxnLst/>
            <a:rect l="l" t="t" r="r" b="b"/>
            <a:pathLst>
              <a:path w="6649967" h="3324983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-3086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401800" y="97155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9655" y="-23825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1358079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681056" y="9313140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7033021" y="-633792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648812" y="2410856"/>
            <a:ext cx="2696232" cy="2706562"/>
          </a:xfrm>
          <a:custGeom>
            <a:avLst/>
            <a:gdLst/>
            <a:ahLst/>
            <a:cxnLst/>
            <a:rect l="l" t="t" r="r" b="b"/>
            <a:pathLst>
              <a:path w="2696232" h="2706562">
                <a:moveTo>
                  <a:pt x="0" y="0"/>
                </a:moveTo>
                <a:lnTo>
                  <a:pt x="2696232" y="0"/>
                </a:lnTo>
                <a:lnTo>
                  <a:pt x="2696232" y="2706563"/>
                </a:lnTo>
                <a:lnTo>
                  <a:pt x="0" y="27065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748726" y="2673620"/>
            <a:ext cx="2485954" cy="2485954"/>
          </a:xfrm>
          <a:custGeom>
            <a:avLst/>
            <a:gdLst/>
            <a:ahLst/>
            <a:cxnLst/>
            <a:rect l="l" t="t" r="r" b="b"/>
            <a:pathLst>
              <a:path w="2485954" h="2485954">
                <a:moveTo>
                  <a:pt x="0" y="0"/>
                </a:moveTo>
                <a:lnTo>
                  <a:pt x="2485954" y="0"/>
                </a:lnTo>
                <a:lnTo>
                  <a:pt x="2485954" y="2485954"/>
                </a:lnTo>
                <a:lnTo>
                  <a:pt x="0" y="24859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13" name="Freeform 13"/>
          <p:cNvSpPr/>
          <p:nvPr/>
        </p:nvSpPr>
        <p:spPr>
          <a:xfrm>
            <a:off x="699321" y="2746031"/>
            <a:ext cx="3410831" cy="2652868"/>
          </a:xfrm>
          <a:custGeom>
            <a:avLst/>
            <a:gdLst/>
            <a:ahLst/>
            <a:cxnLst/>
            <a:rect l="l" t="t" r="r" b="b"/>
            <a:pathLst>
              <a:path w="3410831" h="2652868">
                <a:moveTo>
                  <a:pt x="0" y="0"/>
                </a:moveTo>
                <a:lnTo>
                  <a:pt x="3410830" y="0"/>
                </a:lnTo>
                <a:lnTo>
                  <a:pt x="3410830" y="2652868"/>
                </a:lnTo>
                <a:lnTo>
                  <a:pt x="0" y="265286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4753596" y="2235234"/>
            <a:ext cx="3874027" cy="3057806"/>
          </a:xfrm>
          <a:custGeom>
            <a:avLst/>
            <a:gdLst/>
            <a:ahLst/>
            <a:cxnLst/>
            <a:rect l="l" t="t" r="r" b="b"/>
            <a:pathLst>
              <a:path w="3874027" h="3057806">
                <a:moveTo>
                  <a:pt x="0" y="0"/>
                </a:moveTo>
                <a:lnTo>
                  <a:pt x="3874026" y="0"/>
                </a:lnTo>
                <a:lnTo>
                  <a:pt x="3874026" y="3057806"/>
                </a:lnTo>
                <a:lnTo>
                  <a:pt x="0" y="305780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966" b="-966"/>
            </a:stretch>
          </a:blipFill>
        </p:spPr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0836E35-10B6-40AD-A052-6A0D26C78D66}"/>
              </a:ext>
            </a:extLst>
          </p:cNvPr>
          <p:cNvSpPr txBox="1"/>
          <p:nvPr/>
        </p:nvSpPr>
        <p:spPr>
          <a:xfrm>
            <a:off x="13751004" y="6484369"/>
            <a:ext cx="502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/>
              <a:t>Perte de Données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66775FC-A330-488F-8B0C-721C6DCD3CD3}"/>
              </a:ext>
            </a:extLst>
          </p:cNvPr>
          <p:cNvSpPr txBox="1"/>
          <p:nvPr/>
        </p:nvSpPr>
        <p:spPr>
          <a:xfrm>
            <a:off x="5796839" y="6705250"/>
            <a:ext cx="370638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/>
              <a:t>Non accès rapide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6722260-BD0B-4437-8F32-A20178BDBC27}"/>
              </a:ext>
            </a:extLst>
          </p:cNvPr>
          <p:cNvSpPr txBox="1"/>
          <p:nvPr/>
        </p:nvSpPr>
        <p:spPr>
          <a:xfrm>
            <a:off x="9864202" y="6530535"/>
            <a:ext cx="387402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/>
              <a:t>Insécurité des données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21659D6-7A48-40B9-95A9-88B2DF9B9B61}"/>
              </a:ext>
            </a:extLst>
          </p:cNvPr>
          <p:cNvSpPr txBox="1"/>
          <p:nvPr/>
        </p:nvSpPr>
        <p:spPr>
          <a:xfrm>
            <a:off x="-71567" y="6028142"/>
            <a:ext cx="444094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/>
              <a:t>Quantités importantes  de données traités avec les registres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F3C1C19-D9AA-4E51-B9D6-F2712A088C70}"/>
              </a:ext>
            </a:extLst>
          </p:cNvPr>
          <p:cNvSpPr txBox="1"/>
          <p:nvPr/>
        </p:nvSpPr>
        <p:spPr>
          <a:xfrm>
            <a:off x="1517937" y="9258300"/>
            <a:ext cx="1331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D353D8F-7705-4884-A7AC-3C0D1BBAFC3E}"/>
              </a:ext>
            </a:extLst>
          </p:cNvPr>
          <p:cNvSpPr txBox="1"/>
          <p:nvPr/>
        </p:nvSpPr>
        <p:spPr>
          <a:xfrm>
            <a:off x="490384" y="-327031"/>
            <a:ext cx="12882716" cy="1286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0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3.1-ANALYSE</a:t>
            </a:r>
            <a:endParaRPr lang="en-US" sz="1800" b="1" dirty="0">
              <a:solidFill>
                <a:srgbClr val="6AA839"/>
              </a:solidFill>
              <a:latin typeface="Luciole Bold"/>
              <a:ea typeface="Luciole Bold"/>
              <a:cs typeface="Luciole Bold"/>
              <a:sym typeface="Luciole Bold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81C01D1-1A0F-4D85-9A3D-17EDEECC0462}"/>
              </a:ext>
            </a:extLst>
          </p:cNvPr>
          <p:cNvSpPr txBox="1"/>
          <p:nvPr/>
        </p:nvSpPr>
        <p:spPr>
          <a:xfrm>
            <a:off x="2499051" y="282926"/>
            <a:ext cx="12882716" cy="1232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09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3.1.2-Problématiques</a:t>
            </a:r>
            <a:endParaRPr lang="en-US" sz="4000" b="1" dirty="0">
              <a:solidFill>
                <a:srgbClr val="6AA839"/>
              </a:solidFill>
              <a:latin typeface="Luciole Bold"/>
              <a:ea typeface="Luciole Bold"/>
              <a:cs typeface="Luciole Bold"/>
              <a:sym typeface="Luciole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33785" y="8306614"/>
            <a:ext cx="5170355" cy="2585177"/>
          </a:xfrm>
          <a:custGeom>
            <a:avLst/>
            <a:gdLst/>
            <a:ahLst/>
            <a:cxnLst/>
            <a:rect l="l" t="t" r="r" b="b"/>
            <a:pathLst>
              <a:path w="5170355" h="2585177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3838669" y="-633792"/>
            <a:ext cx="6649967" cy="3324983"/>
          </a:xfrm>
          <a:custGeom>
            <a:avLst/>
            <a:gdLst/>
            <a:ahLst/>
            <a:cxnLst/>
            <a:rect l="l" t="t" r="r" b="b"/>
            <a:pathLst>
              <a:path w="6649967" h="3324983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19820" y="-306252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813545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9655" y="-23825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1358079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681056" y="8559823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7033021" y="-633792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685420" y="1408730"/>
            <a:ext cx="15374130" cy="1190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90"/>
              </a:lnSpc>
            </a:pPr>
            <a:endParaRPr lang="fr-FR" sz="3421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790"/>
              </a:lnSpc>
            </a:pPr>
            <a:r>
              <a:rPr lang="fr-FR" sz="342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Une Application web dynamique et sécurisée</a:t>
            </a:r>
            <a:endParaRPr lang="en-US" sz="3421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F4D67CE-04AA-46C1-88FF-29718F928211}"/>
              </a:ext>
            </a:extLst>
          </p:cNvPr>
          <p:cNvSpPr txBox="1"/>
          <p:nvPr/>
        </p:nvSpPr>
        <p:spPr>
          <a:xfrm>
            <a:off x="1480155" y="9258300"/>
            <a:ext cx="1331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6252CB9-7CF7-4BE3-BCB3-285FD2EB1728}"/>
              </a:ext>
            </a:extLst>
          </p:cNvPr>
          <p:cNvSpPr txBox="1"/>
          <p:nvPr/>
        </p:nvSpPr>
        <p:spPr>
          <a:xfrm>
            <a:off x="1981200" y="781862"/>
            <a:ext cx="12882716" cy="1232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09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3.1.3-SOLUTIONS PROPOSEES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B12F631-AD24-4287-AB94-C7B97987F1C2}"/>
              </a:ext>
            </a:extLst>
          </p:cNvPr>
          <p:cNvSpPr txBox="1"/>
          <p:nvPr/>
        </p:nvSpPr>
        <p:spPr>
          <a:xfrm>
            <a:off x="930829" y="-36439"/>
            <a:ext cx="12882716" cy="1286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0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3.1-ANALYSE</a:t>
            </a:r>
            <a:endParaRPr lang="en-US" sz="1800" b="1" dirty="0">
              <a:solidFill>
                <a:srgbClr val="6AA839"/>
              </a:solidFill>
              <a:latin typeface="Luciole Bold"/>
              <a:ea typeface="Luciole Bold"/>
              <a:cs typeface="Luciole Bold"/>
              <a:sym typeface="Luciole Bold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911C3308-492F-4901-8B8A-E53DC633F478}"/>
              </a:ext>
            </a:extLst>
          </p:cNvPr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2702956"/>
            <a:ext cx="14249400" cy="64791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33785" y="8306614"/>
            <a:ext cx="5170355" cy="2585177"/>
          </a:xfrm>
          <a:custGeom>
            <a:avLst/>
            <a:gdLst/>
            <a:ahLst/>
            <a:cxnLst/>
            <a:rect l="l" t="t" r="r" b="b"/>
            <a:pathLst>
              <a:path w="5170355" h="2585177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3838669" y="-633792"/>
            <a:ext cx="6649967" cy="3324983"/>
          </a:xfrm>
          <a:custGeom>
            <a:avLst/>
            <a:gdLst/>
            <a:ahLst/>
            <a:cxnLst/>
            <a:rect l="l" t="t" r="r" b="b"/>
            <a:pathLst>
              <a:path w="6649967" h="3324983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19820" y="-306252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813545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9655" y="-23825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1358079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681056" y="8559823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7033021" y="-633792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109B8C84-D276-4667-AB97-1AEF41E3EE48}"/>
              </a:ext>
            </a:extLst>
          </p:cNvPr>
          <p:cNvSpPr txBox="1"/>
          <p:nvPr/>
        </p:nvSpPr>
        <p:spPr>
          <a:xfrm>
            <a:off x="-528484" y="1095579"/>
            <a:ext cx="18288000" cy="1139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09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3.1.4-TECHNOLOGIES</a:t>
            </a:r>
            <a:endParaRPr lang="en-US" sz="5400" b="1" dirty="0">
              <a:solidFill>
                <a:srgbClr val="6AA839"/>
              </a:solidFill>
              <a:latin typeface="Luciole Bold"/>
              <a:ea typeface="Luciole Bold"/>
              <a:cs typeface="Luciole Bold"/>
              <a:sym typeface="Luciole Bold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C8B06E6E-3001-4519-9D15-448E3731038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2601" y="5559070"/>
            <a:ext cx="4571999" cy="2541206"/>
          </a:xfrm>
          <a:prstGeom prst="rect">
            <a:avLst/>
          </a:prstGeom>
          <a:ln w="57150">
            <a:noFill/>
          </a:ln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769419FA-7E94-4DB2-91CA-C6478CE5160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667" y="2730231"/>
            <a:ext cx="3455293" cy="2188596"/>
          </a:xfrm>
          <a:prstGeom prst="rect">
            <a:avLst/>
          </a:prstGeom>
          <a:ln w="57150">
            <a:noFill/>
          </a:ln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D3F38C21-8C78-44E0-833C-0540C53C15A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960" y="5658434"/>
            <a:ext cx="3018984" cy="3255494"/>
          </a:xfrm>
          <a:prstGeom prst="rect">
            <a:avLst/>
          </a:prstGeom>
          <a:ln w="57150">
            <a:noFill/>
          </a:ln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02FF7AA9-8009-435F-804F-F37DC6F0D99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557" y="5670703"/>
            <a:ext cx="2543267" cy="2975622"/>
          </a:xfrm>
          <a:prstGeom prst="rect">
            <a:avLst/>
          </a:prstGeom>
          <a:ln w="57150">
            <a:noFill/>
          </a:ln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CC1C97CE-61DC-4B37-9E4C-5D5EE27EF87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2786268"/>
            <a:ext cx="5105400" cy="1914525"/>
          </a:xfrm>
          <a:prstGeom prst="rect">
            <a:avLst/>
          </a:prstGeom>
          <a:ln w="57150">
            <a:noFill/>
          </a:ln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E6F1A158-167E-4F34-9B99-F52772CBC49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7028" y="2730231"/>
            <a:ext cx="6167851" cy="1920845"/>
          </a:xfrm>
          <a:prstGeom prst="rect">
            <a:avLst/>
          </a:prstGeom>
          <a:ln w="57150">
            <a:noFill/>
          </a:ln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CEE618C8-6CED-407E-8A2B-DEE838F1970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61" y="5750627"/>
            <a:ext cx="5829581" cy="2906438"/>
          </a:xfrm>
          <a:prstGeom prst="rect">
            <a:avLst/>
          </a:prstGeom>
          <a:ln w="57150">
            <a:noFill/>
          </a:ln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C4F9FBF4-674F-4A07-AB1C-65E5BE7AB764}"/>
              </a:ext>
            </a:extLst>
          </p:cNvPr>
          <p:cNvSpPr txBox="1"/>
          <p:nvPr/>
        </p:nvSpPr>
        <p:spPr>
          <a:xfrm>
            <a:off x="1480155" y="9258300"/>
            <a:ext cx="1331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F2AF197-F355-4E94-A9C5-882357A31305}"/>
              </a:ext>
            </a:extLst>
          </p:cNvPr>
          <p:cNvSpPr txBox="1"/>
          <p:nvPr/>
        </p:nvSpPr>
        <p:spPr>
          <a:xfrm>
            <a:off x="699321" y="-167785"/>
            <a:ext cx="12882716" cy="1286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0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3.1-ANALYSE</a:t>
            </a:r>
            <a:endParaRPr lang="en-US" sz="1800" b="1" dirty="0">
              <a:solidFill>
                <a:srgbClr val="6AA839"/>
              </a:solidFill>
              <a:latin typeface="Luciole Bold"/>
              <a:ea typeface="Luciole Bold"/>
              <a:cs typeface="Luciole Bold"/>
              <a:sym typeface="Luciole Bold"/>
            </a:endParaRPr>
          </a:p>
        </p:txBody>
      </p:sp>
    </p:spTree>
    <p:extLst>
      <p:ext uri="{BB962C8B-B14F-4D97-AF65-F5344CB8AC3E}">
        <p14:creationId xmlns:p14="http://schemas.microsoft.com/office/powerpoint/2010/main" val="3106042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292042" y="8358408"/>
            <a:ext cx="5170355" cy="2585177"/>
          </a:xfrm>
          <a:custGeom>
            <a:avLst/>
            <a:gdLst/>
            <a:ahLst/>
            <a:cxnLst/>
            <a:rect l="l" t="t" r="r" b="b"/>
            <a:pathLst>
              <a:path w="5170355" h="2585177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4237242" y="-876300"/>
            <a:ext cx="6649967" cy="3324983"/>
          </a:xfrm>
          <a:custGeom>
            <a:avLst/>
            <a:gdLst/>
            <a:ahLst/>
            <a:cxnLst/>
            <a:rect l="l" t="t" r="r" b="b"/>
            <a:pathLst>
              <a:path w="6649967" h="3324983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19820" y="-306252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107028" y="961252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83413" y="-279519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1836730" y="9410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3126541" y="9389340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7033021" y="-633792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109B8C84-D276-4667-AB97-1AEF41E3EE48}"/>
              </a:ext>
            </a:extLst>
          </p:cNvPr>
          <p:cNvSpPr txBox="1"/>
          <p:nvPr/>
        </p:nvSpPr>
        <p:spPr>
          <a:xfrm>
            <a:off x="4555337" y="319789"/>
            <a:ext cx="11104834" cy="1139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0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3.1.5-CAHIER DES CHARGES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40C8F31-ABA9-4FF4-9B28-378C2086754F}"/>
              </a:ext>
            </a:extLst>
          </p:cNvPr>
          <p:cNvSpPr txBox="1"/>
          <p:nvPr/>
        </p:nvSpPr>
        <p:spPr>
          <a:xfrm>
            <a:off x="508828" y="1228937"/>
            <a:ext cx="17676291" cy="8634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b="1" dirty="0"/>
              <a:t>Le Directeur Général pourra</a:t>
            </a:r>
            <a:r>
              <a:rPr lang="fr-FR" sz="4000" dirty="0"/>
              <a:t> superviser toutes les activités de l’établissement, gérer le personnel, configurer les classes, visualiser les statistiques et suivre les finances.</a:t>
            </a:r>
          </a:p>
          <a:p>
            <a:r>
              <a:rPr lang="fr-FR" sz="4000" b="1" dirty="0"/>
              <a:t>Le Comptable pourra</a:t>
            </a:r>
            <a:r>
              <a:rPr lang="fr-FR" sz="4000" dirty="0"/>
              <a:t> gérer les paiements, suivre les recettes et dépenses, imprimer les reçus, produire des rapports financiers et effectuer les paiements de salaires.</a:t>
            </a:r>
          </a:p>
          <a:p>
            <a:r>
              <a:rPr lang="fr-FR" sz="4000" b="1" dirty="0"/>
              <a:t>Le Censeur et le Directeur des Études pourront</a:t>
            </a:r>
            <a:r>
              <a:rPr lang="fr-FR" sz="4000" dirty="0"/>
              <a:t> consulter et gérer les inscriptions, les résultats, les emplois du temps, les groupes pédagogiques, les notes et les statistiques scolaires.</a:t>
            </a:r>
          </a:p>
          <a:p>
            <a:r>
              <a:rPr lang="fr-FR" sz="4000" b="1" dirty="0"/>
              <a:t>Les Enseignants pourront</a:t>
            </a:r>
            <a:r>
              <a:rPr lang="fr-FR" sz="4000" dirty="0"/>
              <a:t> consulter la liste de leurs élèves, enregistrer les notes, voir leur emploi du temps et suivre leur état de salaire.</a:t>
            </a:r>
          </a:p>
          <a:p>
            <a:r>
              <a:rPr lang="fr-FR" sz="4000" b="1" dirty="0"/>
              <a:t>Les Élèves et Parents pourront</a:t>
            </a:r>
            <a:r>
              <a:rPr lang="fr-FR" sz="4000" dirty="0"/>
              <a:t> accéder à l’historique des paiements, au relevé de notes, à l’emploi du temps et à leurs informations personnelles.</a:t>
            </a:r>
          </a:p>
          <a:p>
            <a:r>
              <a:rPr lang="fr-FR" sz="4000" b="1" dirty="0"/>
              <a:t>Les Visiteurs du site pourront</a:t>
            </a:r>
            <a:r>
              <a:rPr lang="fr-FR" sz="4000" dirty="0"/>
              <a:t> consulter l’historique de l’école, les événements en cours, le tableau d’honneur et les informations publiques sur certains encadreurs.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-"/>
            </a:pPr>
            <a:endParaRPr lang="fr-FR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F168460-9241-4207-8445-18CC7D28B177}"/>
              </a:ext>
            </a:extLst>
          </p:cNvPr>
          <p:cNvSpPr txBox="1"/>
          <p:nvPr/>
        </p:nvSpPr>
        <p:spPr>
          <a:xfrm>
            <a:off x="1480155" y="9258300"/>
            <a:ext cx="1331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40456D7-04F4-466E-9AE9-A049B5CECF77}"/>
              </a:ext>
            </a:extLst>
          </p:cNvPr>
          <p:cNvSpPr txBox="1"/>
          <p:nvPr/>
        </p:nvSpPr>
        <p:spPr>
          <a:xfrm>
            <a:off x="-304800" y="-323497"/>
            <a:ext cx="12882716" cy="1286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0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3.1-ANALYSE</a:t>
            </a:r>
            <a:endParaRPr lang="en-US" sz="1800" b="1" dirty="0">
              <a:solidFill>
                <a:srgbClr val="6AA839"/>
              </a:solidFill>
              <a:latin typeface="Luciole Bold"/>
              <a:ea typeface="Luciole Bold"/>
              <a:cs typeface="Luciole Bold"/>
              <a:sym typeface="Luciole Bold"/>
            </a:endParaRPr>
          </a:p>
        </p:txBody>
      </p:sp>
    </p:spTree>
    <p:extLst>
      <p:ext uri="{BB962C8B-B14F-4D97-AF65-F5344CB8AC3E}">
        <p14:creationId xmlns:p14="http://schemas.microsoft.com/office/powerpoint/2010/main" val="1848415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33785" y="8306614"/>
            <a:ext cx="5170355" cy="2585177"/>
          </a:xfrm>
          <a:custGeom>
            <a:avLst/>
            <a:gdLst/>
            <a:ahLst/>
            <a:cxnLst/>
            <a:rect l="l" t="t" r="r" b="b"/>
            <a:pathLst>
              <a:path w="5170355" h="2585177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4196154" y="-1257300"/>
            <a:ext cx="6649967" cy="3324983"/>
          </a:xfrm>
          <a:custGeom>
            <a:avLst/>
            <a:gdLst/>
            <a:ahLst/>
            <a:cxnLst/>
            <a:rect l="l" t="t" r="r" b="b"/>
            <a:pathLst>
              <a:path w="6649967" h="3324983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-3086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813545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6200" y="-292056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1358079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681056" y="8559823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7033021" y="-633792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EC8C1A3B-A1FE-44F5-B978-3C36793FB698}"/>
              </a:ext>
            </a:extLst>
          </p:cNvPr>
          <p:cNvSpPr txBox="1"/>
          <p:nvPr/>
        </p:nvSpPr>
        <p:spPr>
          <a:xfrm>
            <a:off x="3697016" y="491033"/>
            <a:ext cx="11104834" cy="1139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09"/>
              </a:lnSpc>
              <a:spcBef>
                <a:spcPct val="0"/>
              </a:spcBef>
            </a:pPr>
            <a:r>
              <a:rPr lang="fr-FR" sz="44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3.2.1-Outils</a:t>
            </a:r>
            <a:r>
              <a:rPr lang="en-US" sz="44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 de Conception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85F0CCF1-2578-4F08-8942-4CDA2E4F768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907396"/>
            <a:ext cx="8382000" cy="5448300"/>
          </a:xfrm>
          <a:prstGeom prst="rect">
            <a:avLst/>
          </a:prstGeom>
          <a:ln w="76200">
            <a:solidFill>
              <a:srgbClr val="6AA839"/>
            </a:solidFill>
          </a:ln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889B1C2D-F77B-4D5E-9225-122EC02E3FB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1260" y="1965146"/>
            <a:ext cx="5209739" cy="5448300"/>
          </a:xfrm>
          <a:prstGeom prst="rect">
            <a:avLst/>
          </a:prstGeom>
          <a:ln w="76200">
            <a:solidFill>
              <a:srgbClr val="6AA839"/>
            </a:solidFill>
          </a:ln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3CBCD233-760C-4116-B848-E14479133D56}"/>
              </a:ext>
            </a:extLst>
          </p:cNvPr>
          <p:cNvSpPr txBox="1"/>
          <p:nvPr/>
        </p:nvSpPr>
        <p:spPr>
          <a:xfrm>
            <a:off x="1480155" y="9258300"/>
            <a:ext cx="1331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D9995E7-7552-4AB1-94EE-DE0AEBC2C2EC}"/>
              </a:ext>
            </a:extLst>
          </p:cNvPr>
          <p:cNvSpPr txBox="1"/>
          <p:nvPr/>
        </p:nvSpPr>
        <p:spPr>
          <a:xfrm>
            <a:off x="490384" y="-327031"/>
            <a:ext cx="12882716" cy="1286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0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3.2-CONCEPTION</a:t>
            </a:r>
            <a:endParaRPr lang="en-US" sz="1800" b="1" dirty="0">
              <a:solidFill>
                <a:srgbClr val="6AA839"/>
              </a:solidFill>
              <a:latin typeface="Luciole Bold"/>
              <a:ea typeface="Luciole Bold"/>
              <a:cs typeface="Luciole Bold"/>
              <a:sym typeface="Luciole 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560828" y="1724946"/>
            <a:ext cx="17166345" cy="8524137"/>
          </a:xfrm>
          <a:custGeom>
            <a:avLst/>
            <a:gdLst/>
            <a:ahLst/>
            <a:cxnLst/>
            <a:rect l="l" t="t" r="r" b="b"/>
            <a:pathLst>
              <a:path w="13516966" h="7389828">
                <a:moveTo>
                  <a:pt x="0" y="0"/>
                </a:moveTo>
                <a:lnTo>
                  <a:pt x="13516967" y="0"/>
                </a:lnTo>
                <a:lnTo>
                  <a:pt x="13516967" y="7389828"/>
                </a:lnTo>
                <a:lnTo>
                  <a:pt x="0" y="7389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03" r="-398" b="-1995"/>
            </a:stretch>
          </a:blipFill>
          <a:ln w="76200">
            <a:solidFill>
              <a:srgbClr val="6AA839"/>
            </a:solidFill>
          </a:ln>
        </p:spPr>
      </p:sp>
      <p:sp>
        <p:nvSpPr>
          <p:cNvPr id="2" name="Freeform 2"/>
          <p:cNvSpPr/>
          <p:nvPr/>
        </p:nvSpPr>
        <p:spPr>
          <a:xfrm>
            <a:off x="15733785" y="8306614"/>
            <a:ext cx="5170355" cy="2585177"/>
          </a:xfrm>
          <a:custGeom>
            <a:avLst/>
            <a:gdLst/>
            <a:ahLst/>
            <a:cxnLst/>
            <a:rect l="l" t="t" r="r" b="b"/>
            <a:pathLst>
              <a:path w="5170355" h="2585177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3838669" y="-633792"/>
            <a:ext cx="6649967" cy="3324983"/>
          </a:xfrm>
          <a:custGeom>
            <a:avLst/>
            <a:gdLst/>
            <a:ahLst/>
            <a:cxnLst/>
            <a:rect l="l" t="t" r="r" b="b"/>
            <a:pathLst>
              <a:path w="6649967" h="3324983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-3086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813545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9655" y="-23825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1358079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681057" y="9236940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7033021" y="-633792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B8F9087-E551-4AD8-B3A0-BAA1148D80A1}"/>
              </a:ext>
            </a:extLst>
          </p:cNvPr>
          <p:cNvSpPr txBox="1"/>
          <p:nvPr/>
        </p:nvSpPr>
        <p:spPr>
          <a:xfrm>
            <a:off x="1480155" y="9258300"/>
            <a:ext cx="1331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E127EE2-F768-4F9D-9965-A5415C319BDC}"/>
              </a:ext>
            </a:extLst>
          </p:cNvPr>
          <p:cNvSpPr txBox="1"/>
          <p:nvPr/>
        </p:nvSpPr>
        <p:spPr>
          <a:xfrm>
            <a:off x="490384" y="-327031"/>
            <a:ext cx="12882716" cy="1286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0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3.2-CONCEPTION</a:t>
            </a:r>
            <a:endParaRPr lang="en-US" sz="1800" b="1" dirty="0">
              <a:solidFill>
                <a:srgbClr val="6AA839"/>
              </a:solidFill>
              <a:latin typeface="Luciole Bold"/>
              <a:ea typeface="Luciole Bold"/>
              <a:cs typeface="Luciole Bold"/>
              <a:sym typeface="Luciole Bold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28E583A-6658-4B51-BDEC-2B8B0106961C}"/>
              </a:ext>
            </a:extLst>
          </p:cNvPr>
          <p:cNvSpPr txBox="1"/>
          <p:nvPr/>
        </p:nvSpPr>
        <p:spPr>
          <a:xfrm>
            <a:off x="2499051" y="281060"/>
            <a:ext cx="12882716" cy="1232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09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3.2.2-Diagramme de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505078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254979" y="1323904"/>
            <a:ext cx="16068797" cy="8620196"/>
          </a:xfrm>
          <a:custGeom>
            <a:avLst/>
            <a:gdLst/>
            <a:ahLst/>
            <a:cxnLst/>
            <a:rect l="l" t="t" r="r" b="b"/>
            <a:pathLst>
              <a:path w="15315406" h="7753425">
                <a:moveTo>
                  <a:pt x="0" y="0"/>
                </a:moveTo>
                <a:lnTo>
                  <a:pt x="15315406" y="0"/>
                </a:lnTo>
                <a:lnTo>
                  <a:pt x="15315406" y="7753425"/>
                </a:lnTo>
                <a:lnTo>
                  <a:pt x="0" y="7753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76200">
            <a:solidFill>
              <a:srgbClr val="6AA839"/>
            </a:solidFill>
          </a:ln>
        </p:spPr>
      </p:sp>
      <p:sp>
        <p:nvSpPr>
          <p:cNvPr id="2" name="Freeform 2"/>
          <p:cNvSpPr/>
          <p:nvPr/>
        </p:nvSpPr>
        <p:spPr>
          <a:xfrm>
            <a:off x="15733785" y="9111523"/>
            <a:ext cx="5170355" cy="2585177"/>
          </a:xfrm>
          <a:custGeom>
            <a:avLst/>
            <a:gdLst/>
            <a:ahLst/>
            <a:cxnLst/>
            <a:rect l="l" t="t" r="r" b="b"/>
            <a:pathLst>
              <a:path w="5170355" h="2585177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5279227" y="-372658"/>
            <a:ext cx="6649967" cy="3324983"/>
          </a:xfrm>
          <a:custGeom>
            <a:avLst/>
            <a:gdLst/>
            <a:ahLst/>
            <a:cxnLst/>
            <a:rect l="l" t="t" r="r" b="b"/>
            <a:pathLst>
              <a:path w="6649967" h="3324983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-3086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813545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28779" y="-315436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1358079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3200400" y="9236940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7033021" y="-1050060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596C31E-9896-4A7C-AF36-7FB291A449AF}"/>
              </a:ext>
            </a:extLst>
          </p:cNvPr>
          <p:cNvSpPr txBox="1"/>
          <p:nvPr/>
        </p:nvSpPr>
        <p:spPr>
          <a:xfrm>
            <a:off x="1480155" y="9258300"/>
            <a:ext cx="1331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9BBCC63-A688-4622-9E65-C846DC70CCDC}"/>
              </a:ext>
            </a:extLst>
          </p:cNvPr>
          <p:cNvSpPr txBox="1"/>
          <p:nvPr/>
        </p:nvSpPr>
        <p:spPr>
          <a:xfrm>
            <a:off x="490384" y="-327031"/>
            <a:ext cx="12882716" cy="1286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0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3.2-CONCEPTION</a:t>
            </a:r>
            <a:endParaRPr lang="en-US" sz="1800" b="1" dirty="0">
              <a:solidFill>
                <a:srgbClr val="6AA839"/>
              </a:solidFill>
              <a:latin typeface="Luciole Bold"/>
              <a:ea typeface="Luciole Bold"/>
              <a:cs typeface="Luciole Bold"/>
              <a:sym typeface="Luciole Bold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0986855-FCF6-4FC8-BD62-9CDF1B2FD7D4}"/>
              </a:ext>
            </a:extLst>
          </p:cNvPr>
          <p:cNvSpPr txBox="1"/>
          <p:nvPr/>
        </p:nvSpPr>
        <p:spPr>
          <a:xfrm>
            <a:off x="4150305" y="107770"/>
            <a:ext cx="12882716" cy="1232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09"/>
              </a:lnSpc>
              <a:spcBef>
                <a:spcPct val="0"/>
              </a:spcBef>
            </a:pPr>
            <a:r>
              <a:rPr lang="en-US" sz="3600" b="1" dirty="0" err="1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Diagramme</a:t>
            </a:r>
            <a:r>
              <a:rPr lang="en-US" sz="36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 de Cas </a:t>
            </a:r>
            <a:r>
              <a:rPr lang="en-US" sz="3600" b="1" dirty="0" err="1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d’Utilisation</a:t>
            </a:r>
            <a:endParaRPr lang="en-US" sz="3600" b="1" dirty="0">
              <a:solidFill>
                <a:srgbClr val="6AA839"/>
              </a:solidFill>
              <a:latin typeface="Luciole Bold"/>
              <a:ea typeface="Luciole Bold"/>
              <a:cs typeface="Luciole Bold"/>
              <a:sym typeface="Luciole 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412372" y="1444967"/>
            <a:ext cx="17463257" cy="8731479"/>
          </a:xfrm>
          <a:custGeom>
            <a:avLst/>
            <a:gdLst/>
            <a:ahLst/>
            <a:cxnLst/>
            <a:rect l="l" t="t" r="r" b="b"/>
            <a:pathLst>
              <a:path w="17463257" h="8842032">
                <a:moveTo>
                  <a:pt x="0" y="0"/>
                </a:moveTo>
                <a:lnTo>
                  <a:pt x="17463257" y="0"/>
                </a:lnTo>
                <a:lnTo>
                  <a:pt x="17463257" y="8842032"/>
                </a:lnTo>
                <a:lnTo>
                  <a:pt x="0" y="8842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31" b="-2831"/>
            </a:stretch>
          </a:blipFill>
          <a:ln w="76200">
            <a:solidFill>
              <a:srgbClr val="6AA839"/>
            </a:solidFill>
          </a:ln>
        </p:spPr>
      </p:sp>
      <p:sp>
        <p:nvSpPr>
          <p:cNvPr id="2" name="Freeform 2"/>
          <p:cNvSpPr/>
          <p:nvPr/>
        </p:nvSpPr>
        <p:spPr>
          <a:xfrm>
            <a:off x="15733785" y="9416323"/>
            <a:ext cx="5170355" cy="2585177"/>
          </a:xfrm>
          <a:custGeom>
            <a:avLst/>
            <a:gdLst/>
            <a:ahLst/>
            <a:cxnLst/>
            <a:rect l="l" t="t" r="r" b="b"/>
            <a:pathLst>
              <a:path w="5170355" h="2585177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4755052" y="-1633512"/>
            <a:ext cx="6649967" cy="3324983"/>
          </a:xfrm>
          <a:custGeom>
            <a:avLst/>
            <a:gdLst/>
            <a:ahLst/>
            <a:cxnLst/>
            <a:rect l="l" t="t" r="r" b="b"/>
            <a:pathLst>
              <a:path w="6649967" h="3324983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-327462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813545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0164" y="-336830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1358079" y="9563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681056" y="9541740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7145000" y="-1062791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2FFB75B-8B2E-411E-9B1B-F3DDE36EB73F}"/>
              </a:ext>
            </a:extLst>
          </p:cNvPr>
          <p:cNvSpPr txBox="1"/>
          <p:nvPr/>
        </p:nvSpPr>
        <p:spPr>
          <a:xfrm>
            <a:off x="1480156" y="9477970"/>
            <a:ext cx="1331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2B1FADA-5A45-4987-83D6-C092D0036053}"/>
              </a:ext>
            </a:extLst>
          </p:cNvPr>
          <p:cNvSpPr txBox="1"/>
          <p:nvPr/>
        </p:nvSpPr>
        <p:spPr>
          <a:xfrm>
            <a:off x="490384" y="-327031"/>
            <a:ext cx="12882716" cy="1286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0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3.2-CONCEPTION</a:t>
            </a:r>
            <a:endParaRPr lang="en-US" sz="1800" b="1" dirty="0">
              <a:solidFill>
                <a:srgbClr val="6AA839"/>
              </a:solidFill>
              <a:latin typeface="Luciole Bold"/>
              <a:ea typeface="Luciole Bold"/>
              <a:cs typeface="Luciole Bold"/>
              <a:sym typeface="Luciole Bold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F027416-4452-404F-B41D-3FCBA6912C46}"/>
              </a:ext>
            </a:extLst>
          </p:cNvPr>
          <p:cNvSpPr txBox="1"/>
          <p:nvPr/>
        </p:nvSpPr>
        <p:spPr>
          <a:xfrm>
            <a:off x="2499051" y="281060"/>
            <a:ext cx="12882716" cy="1232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09"/>
              </a:lnSpc>
              <a:spcBef>
                <a:spcPct val="0"/>
              </a:spcBef>
            </a:pPr>
            <a:r>
              <a:rPr lang="en-US" sz="3600" b="1" dirty="0" err="1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Diagramme</a:t>
            </a:r>
            <a:r>
              <a:rPr lang="en-US" sz="36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 de Sequence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92" y="928814"/>
            <a:ext cx="18185113" cy="9105908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>
            <a:off x="16528449" y="8420313"/>
            <a:ext cx="5170355" cy="2585177"/>
          </a:xfrm>
          <a:custGeom>
            <a:avLst/>
            <a:gdLst/>
            <a:ahLst/>
            <a:cxnLst/>
            <a:rect l="l" t="t" r="r" b="b"/>
            <a:pathLst>
              <a:path w="5170355" h="2585177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4682327" y="-1747916"/>
            <a:ext cx="6649967" cy="3324983"/>
          </a:xfrm>
          <a:custGeom>
            <a:avLst/>
            <a:gdLst/>
            <a:ahLst/>
            <a:cxnLst/>
            <a:rect l="l" t="t" r="r" b="b"/>
            <a:pathLst>
              <a:path w="6649967" h="3324983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4" name="Freeform 4"/>
          <p:cNvSpPr/>
          <p:nvPr/>
        </p:nvSpPr>
        <p:spPr>
          <a:xfrm>
            <a:off x="16230600" y="-3086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512132" y="9944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93947" y="-347433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1863724" y="955586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3505200" y="9541740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7033021" y="-633792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1AA2C82-9B87-4B73-AF75-C438A111E78A}"/>
              </a:ext>
            </a:extLst>
          </p:cNvPr>
          <p:cNvSpPr txBox="1"/>
          <p:nvPr/>
        </p:nvSpPr>
        <p:spPr>
          <a:xfrm>
            <a:off x="1172218" y="9645267"/>
            <a:ext cx="1331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2EC748D-C12E-4CDA-8E1D-F87E97BCD63A}"/>
              </a:ext>
            </a:extLst>
          </p:cNvPr>
          <p:cNvSpPr txBox="1"/>
          <p:nvPr/>
        </p:nvSpPr>
        <p:spPr>
          <a:xfrm>
            <a:off x="13043476" y="8807066"/>
            <a:ext cx="1331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rgbClr val="6AA839"/>
                </a:solidFill>
              </a:rPr>
              <a:t>29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3D2CC9D-3468-403F-885E-86290C49439E}"/>
              </a:ext>
            </a:extLst>
          </p:cNvPr>
          <p:cNvSpPr txBox="1"/>
          <p:nvPr/>
        </p:nvSpPr>
        <p:spPr>
          <a:xfrm>
            <a:off x="14084650" y="8914788"/>
            <a:ext cx="23062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rgbClr val="9ACD4C"/>
                </a:solidFill>
              </a:rPr>
              <a:t>Classes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9725D7B-2BE8-4AF9-9776-D1BF5B5E6868}"/>
              </a:ext>
            </a:extLst>
          </p:cNvPr>
          <p:cNvSpPr txBox="1"/>
          <p:nvPr/>
        </p:nvSpPr>
        <p:spPr>
          <a:xfrm>
            <a:off x="490384" y="-327031"/>
            <a:ext cx="12882716" cy="1286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0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3.2-CONCEPTION</a:t>
            </a:r>
            <a:endParaRPr lang="en-US" sz="1800" b="1" dirty="0">
              <a:solidFill>
                <a:srgbClr val="6AA839"/>
              </a:solidFill>
              <a:latin typeface="Luciole Bold"/>
              <a:ea typeface="Luciole Bold"/>
              <a:cs typeface="Luciole Bold"/>
              <a:sym typeface="Luciole Bold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FA6479B-3DBE-4347-8469-DCDDA3DCA426}"/>
              </a:ext>
            </a:extLst>
          </p:cNvPr>
          <p:cNvSpPr txBox="1"/>
          <p:nvPr/>
        </p:nvSpPr>
        <p:spPr>
          <a:xfrm>
            <a:off x="4560145" y="101240"/>
            <a:ext cx="12882716" cy="1232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09"/>
              </a:lnSpc>
              <a:spcBef>
                <a:spcPct val="0"/>
              </a:spcBef>
            </a:pPr>
            <a:r>
              <a:rPr lang="en-US" sz="3600" b="1" dirty="0" err="1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Diagramme</a:t>
            </a:r>
            <a:r>
              <a:rPr lang="en-US" sz="36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 de Classes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28449" y="8420313"/>
            <a:ext cx="5170355" cy="2585177"/>
          </a:xfrm>
          <a:custGeom>
            <a:avLst/>
            <a:gdLst/>
            <a:ahLst/>
            <a:cxnLst/>
            <a:rect l="l" t="t" r="r" b="b"/>
            <a:pathLst>
              <a:path w="5170355" h="2585177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4682327" y="-1747916"/>
            <a:ext cx="6649967" cy="3324983"/>
          </a:xfrm>
          <a:custGeom>
            <a:avLst/>
            <a:gdLst/>
            <a:ahLst/>
            <a:cxnLst/>
            <a:rect l="l" t="t" r="r" b="b"/>
            <a:pathLst>
              <a:path w="6649967" h="3324983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4" name="Freeform 4"/>
          <p:cNvSpPr/>
          <p:nvPr/>
        </p:nvSpPr>
        <p:spPr>
          <a:xfrm>
            <a:off x="16230600" y="-3086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512132" y="9944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93947" y="-347433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1863724" y="955586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3477552" y="9465540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7033021" y="-633792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1AA2C82-9B87-4B73-AF75-C438A111E78A}"/>
              </a:ext>
            </a:extLst>
          </p:cNvPr>
          <p:cNvSpPr txBox="1"/>
          <p:nvPr/>
        </p:nvSpPr>
        <p:spPr>
          <a:xfrm>
            <a:off x="1172218" y="9645267"/>
            <a:ext cx="1331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/>
                </a:solidFill>
              </a:rPr>
              <a:t>18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418426"/>
            <a:ext cx="14985623" cy="5839795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2B73A1DD-C05D-4677-8BD7-F6477D92F4C7}"/>
              </a:ext>
            </a:extLst>
          </p:cNvPr>
          <p:cNvSpPr txBox="1"/>
          <p:nvPr/>
        </p:nvSpPr>
        <p:spPr>
          <a:xfrm>
            <a:off x="1381432" y="1314334"/>
            <a:ext cx="131850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b="1" dirty="0">
                <a:solidFill>
                  <a:srgbClr val="6AA839"/>
                </a:solidFill>
                <a:latin typeface="Luciole Bold"/>
              </a:rPr>
              <a:t>Exemple Diagramme de Classe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B6E228F-8CCB-49BF-9906-2EFBD7203F02}"/>
              </a:ext>
            </a:extLst>
          </p:cNvPr>
          <p:cNvSpPr txBox="1"/>
          <p:nvPr/>
        </p:nvSpPr>
        <p:spPr>
          <a:xfrm rot="10800000" flipV="1">
            <a:off x="1172218" y="8197886"/>
            <a:ext cx="142201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Un élève peut effectuer un ou plusieurs paiements et un paiement ne peut être effectuer que par un et un seul élève 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6383843-2534-46FA-BE5E-B6AA5D58D3E6}"/>
              </a:ext>
            </a:extLst>
          </p:cNvPr>
          <p:cNvSpPr txBox="1"/>
          <p:nvPr/>
        </p:nvSpPr>
        <p:spPr>
          <a:xfrm>
            <a:off x="490384" y="-327031"/>
            <a:ext cx="12882716" cy="1286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0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3.2-CONCEPTION</a:t>
            </a:r>
            <a:endParaRPr lang="en-US" sz="1800" b="1" dirty="0">
              <a:solidFill>
                <a:srgbClr val="6AA839"/>
              </a:solidFill>
              <a:latin typeface="Luciole Bold"/>
              <a:ea typeface="Luciole Bold"/>
              <a:cs typeface="Luciole Bold"/>
              <a:sym typeface="Luciole Bold"/>
            </a:endParaRPr>
          </a:p>
        </p:txBody>
      </p:sp>
    </p:spTree>
    <p:extLst>
      <p:ext uri="{BB962C8B-B14F-4D97-AF65-F5344CB8AC3E}">
        <p14:creationId xmlns:p14="http://schemas.microsoft.com/office/powerpoint/2010/main" val="2158369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33785" y="8306614"/>
            <a:ext cx="5170355" cy="2585177"/>
          </a:xfrm>
          <a:custGeom>
            <a:avLst/>
            <a:gdLst/>
            <a:ahLst/>
            <a:cxnLst/>
            <a:rect l="l" t="t" r="r" b="b"/>
            <a:pathLst>
              <a:path w="5170355" h="2585177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3838669" y="-633792"/>
            <a:ext cx="6649967" cy="3324983"/>
          </a:xfrm>
          <a:custGeom>
            <a:avLst/>
            <a:gdLst/>
            <a:ahLst/>
            <a:cxnLst/>
            <a:rect l="l" t="t" r="r" b="b"/>
            <a:pathLst>
              <a:path w="6649967" h="3324983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-3086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813545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9655" y="-23825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1358079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895600" y="9236940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7033021" y="-633792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37735" y="3619500"/>
            <a:ext cx="17897865" cy="1262077"/>
          </a:xfrm>
          <a:prstGeom prst="rect">
            <a:avLst/>
          </a:prstGeom>
          <a:ln w="76200">
            <a:solidFill>
              <a:srgbClr val="6AA839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309"/>
              </a:lnSpc>
            </a:pPr>
            <a:r>
              <a:rPr lang="en-US" sz="80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4-PRESENTATION APPLICATION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C9BA186-9F6E-43E1-A104-2003ACE0BFB9}"/>
              </a:ext>
            </a:extLst>
          </p:cNvPr>
          <p:cNvSpPr txBox="1"/>
          <p:nvPr/>
        </p:nvSpPr>
        <p:spPr>
          <a:xfrm>
            <a:off x="1181143" y="9271542"/>
            <a:ext cx="1331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33785" y="8306614"/>
            <a:ext cx="5170355" cy="2585177"/>
          </a:xfrm>
          <a:custGeom>
            <a:avLst/>
            <a:gdLst/>
            <a:ahLst/>
            <a:cxnLst/>
            <a:rect l="l" t="t" r="r" b="b"/>
            <a:pathLst>
              <a:path w="5170355" h="2585177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3838669" y="-633792"/>
            <a:ext cx="6649967" cy="3324983"/>
          </a:xfrm>
          <a:custGeom>
            <a:avLst/>
            <a:gdLst/>
            <a:ahLst/>
            <a:cxnLst/>
            <a:rect l="l" t="t" r="r" b="b"/>
            <a:pathLst>
              <a:path w="6649967" h="3324983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-3086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813545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9655" y="-23825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1358079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819400" y="9313140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7033021" y="-633792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512286" y="4484873"/>
            <a:ext cx="13383132" cy="1340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09"/>
              </a:lnSpc>
            </a:pPr>
            <a:r>
              <a:rPr lang="en-US" sz="80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5.1-CONCLUSION</a:t>
            </a:r>
            <a:r>
              <a:rPr lang="en-US" sz="10309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DF89439-66B5-4737-8E5C-EBF87B5ACD9E}"/>
              </a:ext>
            </a:extLst>
          </p:cNvPr>
          <p:cNvSpPr txBox="1"/>
          <p:nvPr/>
        </p:nvSpPr>
        <p:spPr>
          <a:xfrm>
            <a:off x="1181143" y="9271542"/>
            <a:ext cx="1331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9144084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33785" y="8306614"/>
            <a:ext cx="5170355" cy="2585177"/>
          </a:xfrm>
          <a:custGeom>
            <a:avLst/>
            <a:gdLst/>
            <a:ahLst/>
            <a:cxnLst/>
            <a:rect l="l" t="t" r="r" b="b"/>
            <a:pathLst>
              <a:path w="5170355" h="2585177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3838669" y="-633792"/>
            <a:ext cx="6649967" cy="3324983"/>
          </a:xfrm>
          <a:custGeom>
            <a:avLst/>
            <a:gdLst/>
            <a:ahLst/>
            <a:cxnLst/>
            <a:rect l="l" t="t" r="r" b="b"/>
            <a:pathLst>
              <a:path w="6649967" h="3324983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-3086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813545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9655" y="-23825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1358079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895600" y="9236940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7033021" y="-633792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51906" y="4154039"/>
            <a:ext cx="17260114" cy="12620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09"/>
              </a:lnSpc>
            </a:pPr>
            <a:r>
              <a:rPr lang="en-US" sz="8000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5.2-RECOMMANDATION</a:t>
            </a:r>
            <a:endParaRPr lang="en-US" sz="10309" b="1" dirty="0">
              <a:solidFill>
                <a:srgbClr val="6AA839"/>
              </a:solidFill>
              <a:latin typeface="Luciole Bold"/>
              <a:ea typeface="Luciole Bold"/>
              <a:cs typeface="Luciole Bold"/>
              <a:sym typeface="Luciole Bold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DF89439-66B5-4737-8E5C-EBF87B5ACD9E}"/>
              </a:ext>
            </a:extLst>
          </p:cNvPr>
          <p:cNvSpPr txBox="1"/>
          <p:nvPr/>
        </p:nvSpPr>
        <p:spPr>
          <a:xfrm>
            <a:off x="1181143" y="9271542"/>
            <a:ext cx="1331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4530478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33785" y="8306614"/>
            <a:ext cx="5170355" cy="2585177"/>
          </a:xfrm>
          <a:custGeom>
            <a:avLst/>
            <a:gdLst/>
            <a:ahLst/>
            <a:cxnLst/>
            <a:rect l="l" t="t" r="r" b="b"/>
            <a:pathLst>
              <a:path w="5170355" h="2585177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3838669" y="-633792"/>
            <a:ext cx="6649967" cy="3324983"/>
          </a:xfrm>
          <a:custGeom>
            <a:avLst/>
            <a:gdLst/>
            <a:ahLst/>
            <a:cxnLst/>
            <a:rect l="l" t="t" r="r" b="b"/>
            <a:pathLst>
              <a:path w="6649967" h="3324983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-3086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813545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9655" y="-23825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1358079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681056" y="9236940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7033021" y="-633792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981200" y="4623633"/>
            <a:ext cx="15316200" cy="1340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09"/>
              </a:lnSpc>
            </a:pPr>
            <a:r>
              <a:rPr lang="en-US" sz="10309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5.3-REMERCIEMENTS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DF89439-66B5-4737-8E5C-EBF87B5ACD9E}"/>
              </a:ext>
            </a:extLst>
          </p:cNvPr>
          <p:cNvSpPr txBox="1"/>
          <p:nvPr/>
        </p:nvSpPr>
        <p:spPr>
          <a:xfrm>
            <a:off x="1181143" y="9271542"/>
            <a:ext cx="1331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240734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33785" y="8306614"/>
            <a:ext cx="5170355" cy="2585177"/>
          </a:xfrm>
          <a:custGeom>
            <a:avLst/>
            <a:gdLst/>
            <a:ahLst/>
            <a:cxnLst/>
            <a:rect l="l" t="t" r="r" b="b"/>
            <a:pathLst>
              <a:path w="5170355" h="2585177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3838669" y="-633792"/>
            <a:ext cx="6649967" cy="3324983"/>
          </a:xfrm>
          <a:custGeom>
            <a:avLst/>
            <a:gdLst/>
            <a:ahLst/>
            <a:cxnLst/>
            <a:rect l="l" t="t" r="r" b="b"/>
            <a:pathLst>
              <a:path w="6649967" h="3324983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-3086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813545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9655" y="-23825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1358079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971800" y="9313140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7033021" y="-633792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71600" y="4091438"/>
            <a:ext cx="16064166" cy="2661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09"/>
              </a:lnSpc>
            </a:pPr>
            <a:r>
              <a:rPr lang="en-US" sz="10309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MERCI POUR VOTRE AIMABLE ATTENTION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3D1BCBE-E256-49C4-8C18-C2C28DF74169}"/>
              </a:ext>
            </a:extLst>
          </p:cNvPr>
          <p:cNvSpPr txBox="1"/>
          <p:nvPr/>
        </p:nvSpPr>
        <p:spPr>
          <a:xfrm>
            <a:off x="1181143" y="9271542"/>
            <a:ext cx="1331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3746004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33785" y="8306614"/>
            <a:ext cx="5170355" cy="2585177"/>
          </a:xfrm>
          <a:custGeom>
            <a:avLst/>
            <a:gdLst/>
            <a:ahLst/>
            <a:cxnLst/>
            <a:rect l="l" t="t" r="r" b="b"/>
            <a:pathLst>
              <a:path w="5170355" h="2585177">
                <a:moveTo>
                  <a:pt x="0" y="0"/>
                </a:moveTo>
                <a:lnTo>
                  <a:pt x="5170355" y="0"/>
                </a:lnTo>
                <a:lnTo>
                  <a:pt x="5170355" y="2585177"/>
                </a:lnTo>
                <a:lnTo>
                  <a:pt x="0" y="25851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3838669" y="-633792"/>
            <a:ext cx="6649967" cy="3324983"/>
          </a:xfrm>
          <a:custGeom>
            <a:avLst/>
            <a:gdLst/>
            <a:ahLst/>
            <a:cxnLst/>
            <a:rect l="l" t="t" r="r" b="b"/>
            <a:pathLst>
              <a:path w="6649967" h="3324983">
                <a:moveTo>
                  <a:pt x="0" y="3324984"/>
                </a:moveTo>
                <a:lnTo>
                  <a:pt x="6649966" y="3324984"/>
                </a:lnTo>
                <a:lnTo>
                  <a:pt x="6649966" y="0"/>
                </a:lnTo>
                <a:lnTo>
                  <a:pt x="0" y="0"/>
                </a:lnTo>
                <a:lnTo>
                  <a:pt x="0" y="33249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-30861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813545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9655" y="-23825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1358079" y="92583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681056" y="9313140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0"/>
                </a:moveTo>
                <a:lnTo>
                  <a:pt x="4161211" y="0"/>
                </a:lnTo>
                <a:lnTo>
                  <a:pt x="4161211" y="2078759"/>
                </a:lnTo>
                <a:lnTo>
                  <a:pt x="0" y="2078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7033021" y="-633792"/>
            <a:ext cx="4161212" cy="2078760"/>
          </a:xfrm>
          <a:custGeom>
            <a:avLst/>
            <a:gdLst/>
            <a:ahLst/>
            <a:cxnLst/>
            <a:rect l="l" t="t" r="r" b="b"/>
            <a:pathLst>
              <a:path w="4161212" h="2078760">
                <a:moveTo>
                  <a:pt x="0" y="2078760"/>
                </a:moveTo>
                <a:lnTo>
                  <a:pt x="4161212" y="2078760"/>
                </a:lnTo>
                <a:lnTo>
                  <a:pt x="4161212" y="0"/>
                </a:lnTo>
                <a:lnTo>
                  <a:pt x="0" y="0"/>
                </a:lnTo>
                <a:lnTo>
                  <a:pt x="0" y="207876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921822" y="928922"/>
            <a:ext cx="14830932" cy="1340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09"/>
              </a:lnSpc>
            </a:pPr>
            <a:r>
              <a:rPr lang="fr-FR" sz="10309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Membres</a:t>
            </a:r>
            <a:r>
              <a:rPr lang="en-US" sz="10309" b="1" dirty="0">
                <a:solidFill>
                  <a:srgbClr val="6AA839"/>
                </a:solidFill>
                <a:latin typeface="Luciole Bold"/>
                <a:ea typeface="Luciole Bold"/>
                <a:cs typeface="Luciole Bold"/>
                <a:sym typeface="Luciole Bold"/>
              </a:rPr>
              <a:t> du Groupe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DF89439-66B5-4737-8E5C-EBF87B5ACD9E}"/>
              </a:ext>
            </a:extLst>
          </p:cNvPr>
          <p:cNvSpPr txBox="1"/>
          <p:nvPr/>
        </p:nvSpPr>
        <p:spPr>
          <a:xfrm>
            <a:off x="1181143" y="9271542"/>
            <a:ext cx="1331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/>
                </a:solidFill>
              </a:rPr>
              <a:t>24</a:t>
            </a:r>
          </a:p>
        </p:txBody>
      </p:sp>
      <p:sp>
        <p:nvSpPr>
          <p:cNvPr id="12" name="椭圆 12" descr="e7d195523061f1c0890f1187ace479033ccb95cc259bd258E40C6B657499CA903110765D5A69898084D4C1327ADA76239E138ACFFBF09D5F8694C8F4E967BD8E3FD1B9DBDE618204EC63BE722C34DF10D0EF794F545E9970E0DCE31691BEF09DA10BC6275C41481ACAF0C76150143FEF20800A3F9E1353859C6BC30B9B770A2400E704AA5D28D10A">
            <a:extLst>
              <a:ext uri="{FF2B5EF4-FFF2-40B4-BE49-F238E27FC236}">
                <a16:creationId xmlns:a16="http://schemas.microsoft.com/office/drawing/2014/main" id="{B6506E14-94E6-4C66-9B2E-F3D3DE933AD8}"/>
              </a:ext>
            </a:extLst>
          </p:cNvPr>
          <p:cNvSpPr/>
          <p:nvPr/>
        </p:nvSpPr>
        <p:spPr>
          <a:xfrm>
            <a:off x="13437386" y="3071384"/>
            <a:ext cx="3278914" cy="3240162"/>
          </a:xfrm>
          <a:prstGeom prst="ellipse">
            <a:avLst/>
          </a:prstGeom>
          <a:blipFill dpi="0"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6AA839"/>
            </a:solidFill>
          </a:ln>
          <a:effectLst>
            <a:outerShdw blurRad="3810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5701346-5110-443B-B0D5-6721682E2DC8}"/>
              </a:ext>
            </a:extLst>
          </p:cNvPr>
          <p:cNvSpPr txBox="1"/>
          <p:nvPr/>
        </p:nvSpPr>
        <p:spPr>
          <a:xfrm rot="10800000" flipV="1">
            <a:off x="7316235" y="6708318"/>
            <a:ext cx="449970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Mamadou Charif BALDE</a:t>
            </a:r>
          </a:p>
          <a:p>
            <a:r>
              <a:rPr lang="fr-FR" sz="28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</a:rPr>
              <a:t>2204135924</a:t>
            </a:r>
          </a:p>
          <a:p>
            <a:r>
              <a:rPr lang="fr-FR" sz="28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</a:rPr>
              <a:t>610275235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E33BE38-A7BF-4196-A642-9586D8DC716A}"/>
              </a:ext>
            </a:extLst>
          </p:cNvPr>
          <p:cNvSpPr txBox="1"/>
          <p:nvPr/>
        </p:nvSpPr>
        <p:spPr>
          <a:xfrm>
            <a:off x="13738156" y="6797764"/>
            <a:ext cx="36393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Djibril  SOUARE </a:t>
            </a:r>
            <a:r>
              <a:rPr lang="fr-FR" sz="28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</a:rPr>
              <a:t>2204138234</a:t>
            </a:r>
          </a:p>
          <a:p>
            <a:r>
              <a:rPr lang="fr-FR" sz="28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</a:rPr>
              <a:t>621108117</a:t>
            </a:r>
          </a:p>
        </p:txBody>
      </p:sp>
      <p:sp>
        <p:nvSpPr>
          <p:cNvPr id="22" name="椭圆 12" descr="e7d195523061f1c0890f1187ace479033ccb95cc259bd258E40C6B657499CA903110765D5A69898084D4C1327ADA76239E138ACFFBF09D5F8694C8F4E967BD8E3FD1B9DBDE618204EC63BE722C34DF10D0EF794F545E9970E0DCE31691BEF09DA10BC6275C41481ACAF0C76150143FEF20800A3F9E1353859C6BC30B9B770A2400E704AA5D28D10A">
            <a:extLst>
              <a:ext uri="{FF2B5EF4-FFF2-40B4-BE49-F238E27FC236}">
                <a16:creationId xmlns:a16="http://schemas.microsoft.com/office/drawing/2014/main" id="{67403E37-FC9D-4DAA-8267-79E0A9B60762}"/>
              </a:ext>
            </a:extLst>
          </p:cNvPr>
          <p:cNvSpPr/>
          <p:nvPr/>
        </p:nvSpPr>
        <p:spPr>
          <a:xfrm>
            <a:off x="7504543" y="3238500"/>
            <a:ext cx="3278914" cy="3240162"/>
          </a:xfrm>
          <a:prstGeom prst="ellipse">
            <a:avLst/>
          </a:prstGeom>
          <a:blipFill dpi="0"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6AA839"/>
            </a:solidFill>
          </a:ln>
          <a:effectLst>
            <a:outerShdw blurRad="3810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4090E4F-A3ED-405C-9F8B-D08C77DC7DCA}"/>
              </a:ext>
            </a:extLst>
          </p:cNvPr>
          <p:cNvSpPr txBox="1"/>
          <p:nvPr/>
        </p:nvSpPr>
        <p:spPr>
          <a:xfrm>
            <a:off x="1423789" y="6715627"/>
            <a:ext cx="400449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Sékou Ahmed DAFFE</a:t>
            </a:r>
          </a:p>
          <a:p>
            <a:r>
              <a:rPr lang="fr-FR" sz="28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</a:rPr>
              <a:t>2204133024</a:t>
            </a:r>
          </a:p>
          <a:p>
            <a:r>
              <a:rPr lang="fr-FR" sz="28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</a:rPr>
              <a:t>625463305</a:t>
            </a:r>
          </a:p>
        </p:txBody>
      </p:sp>
      <p:sp>
        <p:nvSpPr>
          <p:cNvPr id="21" name="椭圆 12" descr="e7d195523061f1c0890f1187ace479033ccb95cc259bd258E40C6B657499CA903110765D5A69898084D4C1327ADA76239E138ACFFBF09D5F8694C8F4E967BD8E3FD1B9DBDE618204EC63BE722C34DF10D0EF794F545E9970E0DCE31691BEF09DA10BC6275C41481ACAF0C76150143FEF20800A3F9E1353859C6BC30B9B770A2400E704AA5D28D10A">
            <a:extLst>
              <a:ext uri="{FF2B5EF4-FFF2-40B4-BE49-F238E27FC236}">
                <a16:creationId xmlns:a16="http://schemas.microsoft.com/office/drawing/2014/main" id="{FF7F1538-D81C-4C35-9123-90BF17561EE5}"/>
              </a:ext>
            </a:extLst>
          </p:cNvPr>
          <p:cNvSpPr/>
          <p:nvPr/>
        </p:nvSpPr>
        <p:spPr>
          <a:xfrm>
            <a:off x="1592364" y="3240405"/>
            <a:ext cx="3278914" cy="3240162"/>
          </a:xfrm>
          <a:prstGeom prst="ellipse">
            <a:avLst/>
          </a:prstGeom>
          <a:blipFill dpi="0"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6AA839"/>
            </a:solidFill>
          </a:ln>
          <a:effectLst>
            <a:outerShdw blurRad="3810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337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18424</TotalTime>
  <Words>393</Words>
  <Application>Microsoft Office PowerPoint</Application>
  <PresentationFormat>Personnalisé</PresentationFormat>
  <Paragraphs>111</Paragraphs>
  <Slides>25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1" baseType="lpstr">
      <vt:lpstr>Calibri</vt:lpstr>
      <vt:lpstr>Luciole Bold</vt:lpstr>
      <vt:lpstr>Canva Sans</vt:lpstr>
      <vt:lpstr>Arial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HISTORIQUE</dc:title>
  <cp:lastModifiedBy>Djibril</cp:lastModifiedBy>
  <cp:revision>111</cp:revision>
  <dcterms:created xsi:type="dcterms:W3CDTF">2006-08-16T00:00:00Z</dcterms:created>
  <dcterms:modified xsi:type="dcterms:W3CDTF">2025-06-14T14:05:11Z</dcterms:modified>
  <dc:identifier>DAGby2DrhJc</dc:identifier>
</cp:coreProperties>
</file>